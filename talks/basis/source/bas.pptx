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92" r:id="rId4"/>
    <p:sldId id="258" r:id="rId5"/>
    <p:sldId id="283" r:id="rId6"/>
    <p:sldId id="275" r:id="rId7"/>
    <p:sldId id="276" r:id="rId8"/>
    <p:sldId id="277" r:id="rId9"/>
    <p:sldId id="259" r:id="rId10"/>
    <p:sldId id="261" r:id="rId11"/>
    <p:sldId id="289" r:id="rId12"/>
    <p:sldId id="287" r:id="rId13"/>
    <p:sldId id="288" r:id="rId14"/>
    <p:sldId id="278" r:id="rId15"/>
    <p:sldId id="279" r:id="rId16"/>
    <p:sldId id="263" r:id="rId17"/>
    <p:sldId id="286" r:id="rId18"/>
    <p:sldId id="264" r:id="rId19"/>
    <p:sldId id="280" r:id="rId20"/>
    <p:sldId id="262" r:id="rId21"/>
    <p:sldId id="266" r:id="rId22"/>
    <p:sldId id="290" r:id="rId23"/>
    <p:sldId id="282" r:id="rId24"/>
    <p:sldId id="267" r:id="rId25"/>
    <p:sldId id="26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8F8F"/>
    <a:srgbClr val="F9FBFC"/>
    <a:srgbClr val="FFFFFF"/>
    <a:srgbClr val="8BB1E0"/>
    <a:srgbClr val="F9FAFC"/>
    <a:srgbClr val="C1E5F5"/>
    <a:srgbClr val="E3ECF8"/>
    <a:srgbClr val="F7ECEC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8A17F9-AB0E-CF42-A4F0-8AB445CAD207}" v="3" dt="2026-08-22T10:59:55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0"/>
    <p:restoredTop sz="77089"/>
  </p:normalViewPr>
  <p:slideViewPr>
    <p:cSldViewPr snapToGrid="0">
      <p:cViewPr varScale="1">
        <p:scale>
          <a:sx n="91" d="100"/>
          <a:sy n="91" d="100"/>
        </p:scale>
        <p:origin x="32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1,K (pgr)" userId="97c14c17-e217-4323-948e-ab21cfc6109c" providerId="ADAL" clId="{08B93367-3531-5705-928E-458364F7E4A8}"/>
    <pc:docChg chg="undo custSel addSld delSld modSld sldOrd modMainMaster">
      <pc:chgData name="Ye1,K (pgr)" userId="97c14c17-e217-4323-948e-ab21cfc6109c" providerId="ADAL" clId="{08B93367-3531-5705-928E-458364F7E4A8}" dt="2026-08-22T11:04:00.486" v="7271" actId="14100"/>
      <pc:docMkLst>
        <pc:docMk/>
      </pc:docMkLst>
      <pc:sldChg chg="addSp modSp modNotesTx">
        <pc:chgData name="Ye1,K (pgr)" userId="97c14c17-e217-4323-948e-ab21cfc6109c" providerId="ADAL" clId="{08B93367-3531-5705-928E-458364F7E4A8}" dt="2026-08-22T03:11:58.261" v="6305" actId="20577"/>
        <pc:sldMkLst>
          <pc:docMk/>
          <pc:sldMk cId="0" sldId="256"/>
        </pc:sldMkLst>
        <pc:spChg chg="add mod">
          <ac:chgData name="Ye1,K (pgr)" userId="97c14c17-e217-4323-948e-ab21cfc6109c" providerId="ADAL" clId="{08B93367-3531-5705-928E-458364F7E4A8}" dt="2026-08-10T03:16:01.320" v="5330"/>
          <ac:spMkLst>
            <pc:docMk/>
            <pc:sldMk cId="0" sldId="256"/>
            <ac:spMk id="3" creationId="{CEF341FB-FC54-124C-C2C9-D7669C668DD5}"/>
          </ac:spMkLst>
        </pc:spChg>
        <pc:spChg chg="add mod">
          <ac:chgData name="Ye1,K (pgr)" userId="97c14c17-e217-4323-948e-ab21cfc6109c" providerId="ADAL" clId="{08B93367-3531-5705-928E-458364F7E4A8}" dt="2026-08-10T03:16:01.320" v="5330"/>
          <ac:spMkLst>
            <pc:docMk/>
            <pc:sldMk cId="0" sldId="256"/>
            <ac:spMk id="8" creationId="{621E2CAD-BAD0-5204-1950-B0AF89CAD42C}"/>
          </ac:spMkLst>
        </pc:spChg>
        <pc:spChg chg="add mod">
          <ac:chgData name="Ye1,K (pgr)" userId="97c14c17-e217-4323-948e-ab21cfc6109c" providerId="ADAL" clId="{08B93367-3531-5705-928E-458364F7E4A8}" dt="2026-08-10T03:16:01.320" v="5330"/>
          <ac:spMkLst>
            <pc:docMk/>
            <pc:sldMk cId="0" sldId="256"/>
            <ac:spMk id="12" creationId="{BFE3A1BD-78E2-36F8-B9AD-43C555A41ECF}"/>
          </ac:spMkLst>
        </pc:spChg>
      </pc:sldChg>
      <pc:sldChg chg="modNotesTx">
        <pc:chgData name="Ye1,K (pgr)" userId="97c14c17-e217-4323-948e-ab21cfc6109c" providerId="ADAL" clId="{08B93367-3531-5705-928E-458364F7E4A8}" dt="2026-08-22T03:13:47.804" v="6452" actId="20577"/>
        <pc:sldMkLst>
          <pc:docMk/>
          <pc:sldMk cId="0" sldId="257"/>
        </pc:sldMkLst>
      </pc:sldChg>
      <pc:sldChg chg="modNotesTx">
        <pc:chgData name="Ye1,K (pgr)" userId="97c14c17-e217-4323-948e-ab21cfc6109c" providerId="ADAL" clId="{08B93367-3531-5705-928E-458364F7E4A8}" dt="2026-08-18T12:51:33.065" v="5358" actId="20577"/>
        <pc:sldMkLst>
          <pc:docMk/>
          <pc:sldMk cId="0" sldId="258"/>
        </pc:sldMkLst>
      </pc:sldChg>
      <pc:sldChg chg="addSp delSp modSp mod">
        <pc:chgData name="Ye1,K (pgr)" userId="97c14c17-e217-4323-948e-ab21cfc6109c" providerId="ADAL" clId="{08B93367-3531-5705-928E-458364F7E4A8}" dt="2026-08-22T11:04:00.486" v="7271" actId="14100"/>
        <pc:sldMkLst>
          <pc:docMk/>
          <pc:sldMk cId="0" sldId="259"/>
        </pc:sldMkLst>
        <pc:graphicFrameChg chg="mod modGraphic">
          <ac:chgData name="Ye1,K (pgr)" userId="97c14c17-e217-4323-948e-ab21cfc6109c" providerId="ADAL" clId="{08B93367-3531-5705-928E-458364F7E4A8}" dt="2026-08-22T11:04:00.486" v="7271" actId="14100"/>
          <ac:graphicFrameMkLst>
            <pc:docMk/>
            <pc:sldMk cId="0" sldId="259"/>
            <ac:graphicFrameMk id="8" creationId="{00000000-0000-0000-0000-000000000000}"/>
          </ac:graphicFrameMkLst>
        </pc:graphicFrameChg>
      </pc:sldChg>
      <pc:sldChg chg="modSp mod modNotesTx">
        <pc:chgData name="Ye1,K (pgr)" userId="97c14c17-e217-4323-948e-ab21cfc6109c" providerId="ADAL" clId="{08B93367-3531-5705-928E-458364F7E4A8}" dt="2026-08-22T03:36:44.575" v="6568" actId="20577"/>
        <pc:sldMkLst>
          <pc:docMk/>
          <pc:sldMk cId="0" sldId="261"/>
        </pc:sldMkLst>
        <pc:spChg chg="mod">
          <ac:chgData name="Ye1,K (pgr)" userId="97c14c17-e217-4323-948e-ab21cfc6109c" providerId="ADAL" clId="{08B93367-3531-5705-928E-458364F7E4A8}" dt="2026-08-10T03:15:37.588" v="5329" actId="20577"/>
          <ac:spMkLst>
            <pc:docMk/>
            <pc:sldMk cId="0" sldId="261"/>
            <ac:spMk id="36" creationId="{203F1124-3951-C607-838D-890F2B3555DA}"/>
          </ac:spMkLst>
        </pc:spChg>
        <pc:spChg chg="mod">
          <ac:chgData name="Ye1,K (pgr)" userId="97c14c17-e217-4323-948e-ab21cfc6109c" providerId="ADAL" clId="{08B93367-3531-5705-928E-458364F7E4A8}" dt="2026-08-16T05:47:04.652" v="5349" actId="1076"/>
          <ac:spMkLst>
            <pc:docMk/>
            <pc:sldMk cId="0" sldId="261"/>
            <ac:spMk id="52" creationId="{1928F751-88C5-5851-F810-4735CC6D0D8F}"/>
          </ac:spMkLst>
        </pc:spChg>
        <pc:spChg chg="mod">
          <ac:chgData name="Ye1,K (pgr)" userId="97c14c17-e217-4323-948e-ab21cfc6109c" providerId="ADAL" clId="{08B93367-3531-5705-928E-458364F7E4A8}" dt="2026-08-16T05:47:04.912" v="5350" actId="1076"/>
          <ac:spMkLst>
            <pc:docMk/>
            <pc:sldMk cId="0" sldId="261"/>
            <ac:spMk id="53" creationId="{86A5AD4E-CEFE-2886-C438-353C762B21B4}"/>
          </ac:spMkLst>
        </pc:spChg>
      </pc:sldChg>
      <pc:sldChg chg="modNotesTx">
        <pc:chgData name="Ye1,K (pgr)" userId="97c14c17-e217-4323-948e-ab21cfc6109c" providerId="ADAL" clId="{08B93367-3531-5705-928E-458364F7E4A8}" dt="2026-08-22T04:05:55.699" v="7259" actId="20577"/>
        <pc:sldMkLst>
          <pc:docMk/>
          <pc:sldMk cId="0" sldId="262"/>
        </pc:sldMkLst>
      </pc:sldChg>
      <pc:sldChg chg="modNotesTx">
        <pc:chgData name="Ye1,K (pgr)" userId="97c14c17-e217-4323-948e-ab21cfc6109c" providerId="ADAL" clId="{08B93367-3531-5705-928E-458364F7E4A8}" dt="2026-08-22T03:56:18.817" v="6892" actId="20577"/>
        <pc:sldMkLst>
          <pc:docMk/>
          <pc:sldMk cId="0" sldId="263"/>
        </pc:sldMkLst>
      </pc:sldChg>
      <pc:sldChg chg="addSp modSp">
        <pc:chgData name="Ye1,K (pgr)" userId="97c14c17-e217-4323-948e-ab21cfc6109c" providerId="ADAL" clId="{08B93367-3531-5705-928E-458364F7E4A8}" dt="2026-08-10T03:16:01.320" v="5330"/>
        <pc:sldMkLst>
          <pc:docMk/>
          <pc:sldMk cId="0" sldId="266"/>
        </pc:sldMkLst>
        <pc:spChg chg="add mod">
          <ac:chgData name="Ye1,K (pgr)" userId="97c14c17-e217-4323-948e-ab21cfc6109c" providerId="ADAL" clId="{08B93367-3531-5705-928E-458364F7E4A8}" dt="2026-08-10T03:16:01.320" v="5330"/>
          <ac:spMkLst>
            <pc:docMk/>
            <pc:sldMk cId="0" sldId="266"/>
            <ac:spMk id="3" creationId="{0472F60A-0EFB-12A2-36B0-7EA1A7E84778}"/>
          </ac:spMkLst>
        </pc:spChg>
        <pc:spChg chg="add mod">
          <ac:chgData name="Ye1,K (pgr)" userId="97c14c17-e217-4323-948e-ab21cfc6109c" providerId="ADAL" clId="{08B93367-3531-5705-928E-458364F7E4A8}" dt="2026-08-10T03:16:01.320" v="5330"/>
          <ac:spMkLst>
            <pc:docMk/>
            <pc:sldMk cId="0" sldId="266"/>
            <ac:spMk id="6" creationId="{6BFC63F7-8A8A-F573-EB84-7045F3C4B42C}"/>
          </ac:spMkLst>
        </pc:spChg>
        <pc:spChg chg="add mod">
          <ac:chgData name="Ye1,K (pgr)" userId="97c14c17-e217-4323-948e-ab21cfc6109c" providerId="ADAL" clId="{08B93367-3531-5705-928E-458364F7E4A8}" dt="2026-08-10T03:16:01.320" v="5330"/>
          <ac:spMkLst>
            <pc:docMk/>
            <pc:sldMk cId="0" sldId="266"/>
            <ac:spMk id="8" creationId="{146F48EF-1A20-8255-998D-7EA28C73F890}"/>
          </ac:spMkLst>
        </pc:spChg>
      </pc:sldChg>
      <pc:sldChg chg="modNotesTx">
        <pc:chgData name="Ye1,K (pgr)" userId="97c14c17-e217-4323-948e-ab21cfc6109c" providerId="ADAL" clId="{08B93367-3531-5705-928E-458364F7E4A8}" dt="2026-08-18T13:58:51.911" v="6014" actId="20577"/>
        <pc:sldMkLst>
          <pc:docMk/>
          <pc:sldMk cId="0" sldId="267"/>
        </pc:sldMkLst>
      </pc:sldChg>
      <pc:sldChg chg="modSp mod">
        <pc:chgData name="Ye1,K (pgr)" userId="97c14c17-e217-4323-948e-ab21cfc6109c" providerId="ADAL" clId="{08B93367-3531-5705-928E-458364F7E4A8}" dt="2026-08-22T11:03:43.432" v="7268" actId="14100"/>
        <pc:sldMkLst>
          <pc:docMk/>
          <pc:sldMk cId="0" sldId="269"/>
        </pc:sldMkLst>
        <pc:spChg chg="mod">
          <ac:chgData name="Ye1,K (pgr)" userId="97c14c17-e217-4323-948e-ab21cfc6109c" providerId="ADAL" clId="{08B93367-3531-5705-928E-458364F7E4A8}" dt="2026-08-16T05:47:37.906" v="5354" actId="20577"/>
          <ac:spMkLst>
            <pc:docMk/>
            <pc:sldMk cId="0" sldId="269"/>
            <ac:spMk id="11" creationId="{00000000-0000-0000-0000-000000000000}"/>
          </ac:spMkLst>
        </pc:spChg>
        <pc:graphicFrameChg chg="modGraphic">
          <ac:chgData name="Ye1,K (pgr)" userId="97c14c17-e217-4323-948e-ab21cfc6109c" providerId="ADAL" clId="{08B93367-3531-5705-928E-458364F7E4A8}" dt="2026-08-22T11:03:43.432" v="7268" actId="14100"/>
          <ac:graphicFrameMkLst>
            <pc:docMk/>
            <pc:sldMk cId="0" sldId="269"/>
            <ac:graphicFrameMk id="8" creationId="{00000000-0000-0000-0000-000000000000}"/>
          </ac:graphicFrameMkLst>
        </pc:graphicFrameChg>
      </pc:sldChg>
      <pc:sldChg chg="modNotesTx">
        <pc:chgData name="Ye1,K (pgr)" userId="97c14c17-e217-4323-948e-ab21cfc6109c" providerId="ADAL" clId="{08B93367-3531-5705-928E-458364F7E4A8}" dt="2026-08-22T03:34:06.701" v="6539" actId="20577"/>
        <pc:sldMkLst>
          <pc:docMk/>
          <pc:sldMk cId="3046855127" sldId="275"/>
        </pc:sldMkLst>
      </pc:sldChg>
      <pc:sldChg chg="modSp mod modNotesTx">
        <pc:chgData name="Ye1,K (pgr)" userId="97c14c17-e217-4323-948e-ab21cfc6109c" providerId="ADAL" clId="{08B93367-3531-5705-928E-458364F7E4A8}" dt="2026-08-18T13:12:57.826" v="5805" actId="20577"/>
        <pc:sldMkLst>
          <pc:docMk/>
          <pc:sldMk cId="2778740935" sldId="276"/>
        </pc:sldMkLst>
        <pc:picChg chg="mod">
          <ac:chgData name="Ye1,K (pgr)" userId="97c14c17-e217-4323-948e-ab21cfc6109c" providerId="ADAL" clId="{08B93367-3531-5705-928E-458364F7E4A8}" dt="2026-08-10T07:39:24.061" v="5332" actId="1076"/>
          <ac:picMkLst>
            <pc:docMk/>
            <pc:sldMk cId="2778740935" sldId="276"/>
            <ac:picMk id="9" creationId="{4E51A723-B475-7A92-3126-31CA16BF7A70}"/>
          </ac:picMkLst>
        </pc:picChg>
      </pc:sldChg>
      <pc:sldChg chg="modNotesTx">
        <pc:chgData name="Ye1,K (pgr)" userId="97c14c17-e217-4323-948e-ab21cfc6109c" providerId="ADAL" clId="{08B93367-3531-5705-928E-458364F7E4A8}" dt="2026-08-22T03:48:44.399" v="6771" actId="20577"/>
        <pc:sldMkLst>
          <pc:docMk/>
          <pc:sldMk cId="1646828691" sldId="278"/>
        </pc:sldMkLst>
      </pc:sldChg>
      <pc:sldChg chg="modNotesTx">
        <pc:chgData name="Ye1,K (pgr)" userId="97c14c17-e217-4323-948e-ab21cfc6109c" providerId="ADAL" clId="{08B93367-3531-5705-928E-458364F7E4A8}" dt="2026-08-22T03:53:07.564" v="6879" actId="20577"/>
        <pc:sldMkLst>
          <pc:docMk/>
          <pc:sldMk cId="1248795946" sldId="279"/>
        </pc:sldMkLst>
      </pc:sldChg>
      <pc:sldChg chg="modNotesTx">
        <pc:chgData name="Ye1,K (pgr)" userId="97c14c17-e217-4323-948e-ab21cfc6109c" providerId="ADAL" clId="{08B93367-3531-5705-928E-458364F7E4A8}" dt="2026-08-18T13:52:17.832" v="5909" actId="20577"/>
        <pc:sldMkLst>
          <pc:docMk/>
          <pc:sldMk cId="1864512238" sldId="280"/>
        </pc:sldMkLst>
      </pc:sldChg>
      <pc:sldChg chg="addSp delSp modSp mod modNotesTx">
        <pc:chgData name="Ye1,K (pgr)" userId="97c14c17-e217-4323-948e-ab21cfc6109c" providerId="ADAL" clId="{08B93367-3531-5705-928E-458364F7E4A8}" dt="2026-08-18T12:55:07.945" v="5412" actId="20577"/>
        <pc:sldMkLst>
          <pc:docMk/>
          <pc:sldMk cId="57859782" sldId="283"/>
        </pc:sldMkLst>
        <pc:picChg chg="add mod">
          <ac:chgData name="Ye1,K (pgr)" userId="97c14c17-e217-4323-948e-ab21cfc6109c" providerId="ADAL" clId="{08B93367-3531-5705-928E-458364F7E4A8}" dt="2026-08-10T07:47:42.184" v="5335" actId="14100"/>
          <ac:picMkLst>
            <pc:docMk/>
            <pc:sldMk cId="57859782" sldId="283"/>
            <ac:picMk id="7" creationId="{9B08312C-43E2-4E45-EA6B-4A3AD89D7ABB}"/>
          </ac:picMkLst>
        </pc:picChg>
      </pc:sldChg>
      <pc:sldChg chg="modNotesTx">
        <pc:chgData name="Ye1,K (pgr)" userId="97c14c17-e217-4323-948e-ab21cfc6109c" providerId="ADAL" clId="{08B93367-3531-5705-928E-458364F7E4A8}" dt="2026-08-22T04:03:11.232" v="7247" actId="20577"/>
        <pc:sldMkLst>
          <pc:docMk/>
          <pc:sldMk cId="3131749889" sldId="286"/>
        </pc:sldMkLst>
      </pc:sldChg>
      <pc:sldChg chg="addSp delSp mod modNotesTx">
        <pc:chgData name="Ye1,K (pgr)" userId="97c14c17-e217-4323-948e-ab21cfc6109c" providerId="ADAL" clId="{08B93367-3531-5705-928E-458364F7E4A8}" dt="2026-08-18T13:21:24.302" v="5889" actId="20577"/>
        <pc:sldMkLst>
          <pc:docMk/>
          <pc:sldMk cId="3647274669" sldId="287"/>
        </pc:sldMkLst>
      </pc:sldChg>
      <pc:sldChg chg="modNotesTx">
        <pc:chgData name="Ye1,K (pgr)" userId="97c14c17-e217-4323-948e-ab21cfc6109c" providerId="ADAL" clId="{08B93367-3531-5705-928E-458364F7E4A8}" dt="2026-08-22T03:40:54.815" v="6689" actId="20577"/>
        <pc:sldMkLst>
          <pc:docMk/>
          <pc:sldMk cId="1653914127" sldId="288"/>
        </pc:sldMkLst>
      </pc:sldChg>
      <pc:sldChg chg="addSp modSp modNotesTx">
        <pc:chgData name="Ye1,K (pgr)" userId="97c14c17-e217-4323-948e-ab21cfc6109c" providerId="ADAL" clId="{08B93367-3531-5705-928E-458364F7E4A8}" dt="2026-08-22T03:37:41.179" v="6579" actId="20577"/>
        <pc:sldMkLst>
          <pc:docMk/>
          <pc:sldMk cId="52480157" sldId="289"/>
        </pc:sldMkLst>
        <pc:spChg chg="add mod">
          <ac:chgData name="Ye1,K (pgr)" userId="97c14c17-e217-4323-948e-ab21cfc6109c" providerId="ADAL" clId="{08B93367-3531-5705-928E-458364F7E4A8}" dt="2026-08-10T03:16:01.320" v="5330"/>
          <ac:spMkLst>
            <pc:docMk/>
            <pc:sldMk cId="52480157" sldId="289"/>
            <ac:spMk id="2" creationId="{5FAB0EDC-6507-6DDE-A5CE-CFBBBE97920F}"/>
          </ac:spMkLst>
        </pc:spChg>
        <pc:spChg chg="add mod">
          <ac:chgData name="Ye1,K (pgr)" userId="97c14c17-e217-4323-948e-ab21cfc6109c" providerId="ADAL" clId="{08B93367-3531-5705-928E-458364F7E4A8}" dt="2026-08-10T03:16:01.320" v="5330"/>
          <ac:spMkLst>
            <pc:docMk/>
            <pc:sldMk cId="52480157" sldId="289"/>
            <ac:spMk id="3" creationId="{ED3AE894-083A-C375-948F-90907B3B8FA0}"/>
          </ac:spMkLst>
        </pc:spChg>
        <pc:spChg chg="add mod">
          <ac:chgData name="Ye1,K (pgr)" userId="97c14c17-e217-4323-948e-ab21cfc6109c" providerId="ADAL" clId="{08B93367-3531-5705-928E-458364F7E4A8}" dt="2026-08-10T03:16:01.320" v="5330"/>
          <ac:spMkLst>
            <pc:docMk/>
            <pc:sldMk cId="52480157" sldId="289"/>
            <ac:spMk id="9" creationId="{5A4B165F-1816-3322-A355-EDE732BF6E47}"/>
          </ac:spMkLst>
        </pc:spChg>
      </pc:sldChg>
      <pc:sldChg chg="addSp delSp modSp add mod ord setBg modNotesTx">
        <pc:chgData name="Ye1,K (pgr)" userId="97c14c17-e217-4323-948e-ab21cfc6109c" providerId="ADAL" clId="{08B93367-3531-5705-928E-458364F7E4A8}" dt="2026-08-22T03:31:31.246" v="6522" actId="20577"/>
        <pc:sldMkLst>
          <pc:docMk/>
          <pc:sldMk cId="1423170082" sldId="292"/>
        </pc:sldMkLst>
        <pc:spChg chg="mod">
          <ac:chgData name="Ye1,K (pgr)" userId="97c14c17-e217-4323-948e-ab21cfc6109c" providerId="ADAL" clId="{08B93367-3531-5705-928E-458364F7E4A8}" dt="2026-08-18T12:45:32.459" v="5357" actId="1076"/>
          <ac:spMkLst>
            <pc:docMk/>
            <pc:sldMk cId="1423170082" sldId="292"/>
            <ac:spMk id="12" creationId="{C6B253A9-8DD7-CA4D-D3DF-D4D9EA3E2207}"/>
          </ac:spMkLst>
        </pc:spChg>
        <pc:spChg chg="mod">
          <ac:chgData name="Ye1,K (pgr)" userId="97c14c17-e217-4323-948e-ab21cfc6109c" providerId="ADAL" clId="{08B93367-3531-5705-928E-458364F7E4A8}" dt="2026-08-10T03:11:14.272" v="5314" actId="1076"/>
          <ac:spMkLst>
            <pc:docMk/>
            <pc:sldMk cId="1423170082" sldId="292"/>
            <ac:spMk id="87" creationId="{633930D1-9D17-5278-E70C-4D8A0F477F99}"/>
          </ac:spMkLst>
        </pc:spChg>
        <pc:picChg chg="add mod">
          <ac:chgData name="Ye1,K (pgr)" userId="97c14c17-e217-4323-948e-ab21cfc6109c" providerId="ADAL" clId="{08B93367-3531-5705-928E-458364F7E4A8}" dt="2026-08-10T07:47:30.663" v="5333" actId="1076"/>
          <ac:picMkLst>
            <pc:docMk/>
            <pc:sldMk cId="1423170082" sldId="292"/>
            <ac:picMk id="6" creationId="{58638088-37D7-5E4A-89A6-9667B19EB4F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1242B-21ED-EF49-B0D1-95DF5516059C}" type="datetimeFigureOut">
              <a:rPr kumimoji="1" lang="zh-CN" altLang="en-US" smtClean="0"/>
              <a:t>2026/8/22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85612-B20F-E940-A344-371F120644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8836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大家好，非常感谢大家今天来听这个报告。</a:t>
            </a:r>
          </a:p>
          <a:p>
            <a:r>
              <a:rPr lang="zh-CN" altLang="zh-CN" dirty="0"/>
              <a:t>今天我想介绍我们最近的一个工作，叫做 </a:t>
            </a:r>
            <a:r>
              <a:rPr lang="zh-CN" altLang="zh-CN" b="1" dirty="0"/>
              <a:t>BASIS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它的全称是 </a:t>
            </a:r>
            <a:r>
              <a:rPr lang="zh-CN" altLang="zh-CN" b="1" dirty="0"/>
              <a:t>Batchwise Advantage Estimation from Single-Rollout Information Sharing for LLM Reasoning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这个名字比较长，但其实背后的问题非常简单。</a:t>
            </a:r>
            <a:r>
              <a:rPr lang="zh-CN" altLang="en-US" dirty="0"/>
              <a:t>我可以把这个题目拆分开来，首先中是用于大模型推理的优化算法，</a:t>
            </a:r>
            <a:r>
              <a:rPr lang="zh-CN" altLang="zh-CN" dirty="0"/>
              <a:t>现在我们用 reinforcement learning 去 post-train 大语言模型做 reasoning 的时候，经常面临一个 trade-off：</a:t>
            </a:r>
          </a:p>
          <a:p>
            <a:r>
              <a:rPr lang="zh-CN" altLang="zh-CN" dirty="0"/>
              <a:t>如果我希望 advantage estimate 比较准，一种方法是像 PPO 一样训练额外的 value model；另一种方法是像 GRPO 一样，对于同一个 prompt 一次生成很多个 rollouts，然后用 group statistics 来估计 baseline。</a:t>
            </a:r>
          </a:p>
          <a:p>
            <a:r>
              <a:rPr lang="zh-CN" altLang="zh-CN" dirty="0"/>
              <a:t>但是这两件事情其实都很贵。</a:t>
            </a:r>
          </a:p>
          <a:p>
            <a:r>
              <a:rPr lang="zh-CN" altLang="zh-CN" dirty="0"/>
              <a:t>所以我们想问一个问题：</a:t>
            </a:r>
          </a:p>
          <a:p>
            <a:r>
              <a:rPr lang="zh-CN" altLang="zh-CN" b="1" dirty="0"/>
              <a:t>有没有可能既不训练 critic，也不需要对一个 prompt 生成很多次，只生成一次，就得到一个足够好的 advantage estimate？</a:t>
            </a:r>
            <a:endParaRPr lang="zh-CN" altLang="zh-CN" dirty="0"/>
          </a:p>
          <a:p>
            <a:r>
              <a:rPr lang="zh-CN" altLang="zh-CN" dirty="0"/>
              <a:t>BASIS 给出的答案</a:t>
            </a:r>
            <a:r>
              <a:rPr lang="zh-CN" altLang="en-US" dirty="0"/>
              <a:t>就是</a:t>
            </a:r>
            <a:r>
              <a:rPr lang="en-US" altLang="zh-CN" dirty="0"/>
              <a:t>information</a:t>
            </a:r>
            <a:r>
              <a:rPr lang="zh-CN" altLang="en-US" dirty="0"/>
              <a:t> </a:t>
            </a:r>
            <a:r>
              <a:rPr lang="en-US" altLang="zh-CN" dirty="0"/>
              <a:t>sharing</a:t>
            </a:r>
            <a:r>
              <a:rPr lang="zh-CN" altLang="en-US" dirty="0"/>
              <a:t>，也就是说</a:t>
            </a:r>
            <a:r>
              <a:rPr lang="zh-CN" altLang="zh-CN" dirty="0"/>
              <a:t>我们不再只看一个 prompt 自己的信息。</a:t>
            </a:r>
          </a:p>
          <a:p>
            <a:r>
              <a:rPr lang="zh-CN" altLang="zh-CN" dirty="0"/>
              <a:t>如果一个 prompt 自己只有一个 rollout，那我们就要开始利用</a:t>
            </a:r>
            <a:r>
              <a:rPr lang="zh-CN" altLang="zh-CN" b="1" dirty="0"/>
              <a:t>整个 batch 里面其他 prompts 的信息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所以今天整个报告的关键词其实就是两个：</a:t>
            </a:r>
          </a:p>
          <a:p>
            <a:r>
              <a:rPr lang="zh-CN" altLang="zh-CN" b="1" dirty="0"/>
              <a:t>single rollout</a:t>
            </a:r>
            <a:r>
              <a:rPr lang="zh-CN" altLang="zh-CN" dirty="0"/>
              <a:t>，以及 </a:t>
            </a:r>
            <a:r>
              <a:rPr lang="zh-CN" altLang="zh-CN" b="1" dirty="0"/>
              <a:t>cross-prompt information sharing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论文中 BASIS 的设计目标就是在 online training 时每个 prompt 仅采一个 rollout，同时利用整个 batch 改善 value 和 advantage estimation。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25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今天我主要回答四个问题。</a:t>
            </a:r>
          </a:p>
          <a:p>
            <a:r>
              <a:rPr lang="zh-CN" altLang="zh-CN" dirty="0"/>
              <a:t>第一个问题，我们到底在优化什么？</a:t>
            </a:r>
          </a:p>
          <a:p>
            <a:r>
              <a:rPr lang="zh-CN" altLang="zh-CN" dirty="0"/>
              <a:t>也就是说，把 LLM reasoning 放进 reinforcement learning 之后，</a:t>
            </a:r>
            <a:r>
              <a:rPr lang="zh-CN" altLang="en-US" dirty="0"/>
              <a:t>主流算法是如何做的</a:t>
            </a:r>
            <a:r>
              <a:rPr lang="zh-CN" altLang="zh-CN" dirty="0"/>
              <a:t>，</a:t>
            </a:r>
            <a:r>
              <a:rPr lang="zh-CN" altLang="en-US" dirty="0"/>
              <a:t>会有一些什么问题</a:t>
            </a:r>
            <a:endParaRPr lang="zh-CN" altLang="zh-CN" dirty="0"/>
          </a:p>
          <a:p>
            <a:r>
              <a:rPr lang="zh-CN" altLang="zh-CN" dirty="0"/>
              <a:t>第二个问题，目前比较典型的 PPO 和 GRPO，分别是怎么解决这个问题的，以及它们的缺点是什么。</a:t>
            </a:r>
          </a:p>
          <a:p>
            <a:r>
              <a:rPr lang="zh-CN" altLang="zh-CN" dirty="0"/>
              <a:t>第三，也是今天最主要的部分：</a:t>
            </a:r>
          </a:p>
          <a:p>
            <a:r>
              <a:rPr lang="zh-CN" altLang="zh-CN" b="1" dirty="0"/>
              <a:t>BASIS 到底是怎么做的？</a:t>
            </a:r>
            <a:endParaRPr lang="zh-CN" altLang="zh-CN" dirty="0"/>
          </a:p>
          <a:p>
            <a:r>
              <a:rPr lang="zh-CN" altLang="zh-CN" dirty="0"/>
              <a:t>为什么一个 prompt 只生成一个 rollout，我们仍然能够估计它的 value？</a:t>
            </a:r>
          </a:p>
          <a:p>
            <a:r>
              <a:rPr lang="zh-CN" altLang="zh-CN" dirty="0"/>
              <a:t>最后看实验：</a:t>
            </a:r>
          </a:p>
          <a:p>
            <a:r>
              <a:rPr lang="zh-CN" altLang="zh-CN" dirty="0"/>
              <a:t>这种 batchwise information sharing 到底是不是有用，它是不是真的降低了 value estimation 的 MSE，以及这个 improvement 最终能不能转化成更好的 policy optimization。</a:t>
            </a:r>
          </a:p>
          <a:p>
            <a:r>
              <a:rPr lang="zh-CN" altLang="zh-CN" dirty="0"/>
              <a:t>大家先记住 BASIS 的三个特点：</a:t>
            </a:r>
          </a:p>
          <a:p>
            <a:r>
              <a:rPr lang="zh-CN" altLang="zh-CN" dirty="0"/>
              <a:t>第一，不需要额外的 value model。</a:t>
            </a:r>
          </a:p>
          <a:p>
            <a:r>
              <a:rPr lang="zh-CN" altLang="zh-CN" dirty="0"/>
              <a:t>第二，online training 每个 prompt 只需要一个 rollout。</a:t>
            </a:r>
          </a:p>
          <a:p>
            <a:r>
              <a:rPr lang="zh-CN" altLang="zh-CN" dirty="0"/>
              <a:t>第三，它和传统 group-based 方法最大的区别是：</a:t>
            </a:r>
          </a:p>
          <a:p>
            <a:r>
              <a:rPr lang="zh-CN" altLang="zh-CN" b="1" dirty="0"/>
              <a:t>它利用的是 </a:t>
            </a:r>
            <a:r>
              <a:rPr lang="zh-CN" altLang="en-US" b="1" dirty="0"/>
              <a:t>组间信息</a:t>
            </a:r>
            <a:r>
              <a:rPr lang="zh-CN" altLang="zh-CN" b="1" dirty="0"/>
              <a:t>，而不是只利用 </a:t>
            </a:r>
            <a:r>
              <a:rPr lang="zh-CN" altLang="en-US" b="1" dirty="0"/>
              <a:t>单个</a:t>
            </a:r>
            <a:r>
              <a:rPr lang="en-US" altLang="zh-CN" b="1" dirty="0"/>
              <a:t>prompt</a:t>
            </a:r>
            <a:r>
              <a:rPr lang="zh-CN" altLang="en-US" b="1" dirty="0"/>
              <a:t>的组内信息</a:t>
            </a: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543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在正式介绍我们的 optimization problem 之前，我想先用这一页简单回顾一下，大语言模型的 reasoning training 是怎么发展到今天这个 setting 的。</a:t>
            </a:r>
          </a:p>
          <a:p>
            <a:r>
              <a:rPr lang="zh-CN" altLang="zh-CN" dirty="0"/>
              <a:t>大家可以从左到右看。</a:t>
            </a:r>
          </a:p>
          <a:p>
            <a:r>
              <a:rPr lang="zh-CN" altLang="zh-CN" dirty="0"/>
              <a:t>最左边是</a:t>
            </a:r>
            <a:r>
              <a:rPr lang="zh-CN" altLang="zh-CN" b="1" dirty="0"/>
              <a:t>Chain-of-Thought prompting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早期一个非常重要的发现是，我们不一定需要直接让语言模型给出最终答案，而是可以通过类似</a:t>
            </a:r>
          </a:p>
          <a:p>
            <a:r>
              <a:rPr lang="zh-CN" altLang="zh-CN" dirty="0"/>
              <a:t>“Let us think step by step”</a:t>
            </a:r>
          </a:p>
          <a:p>
            <a:r>
              <a:rPr lang="zh-CN" altLang="zh-CN" dirty="0"/>
              <a:t>这样的 prompt，引导模型先生成一个中间 reasoning process，再给出最后的 answer。</a:t>
            </a:r>
          </a:p>
          <a:p>
            <a:r>
              <a:rPr lang="zh-CN" altLang="zh-CN" dirty="0"/>
              <a:t>这个方向说明了一件非常重要的事情：</a:t>
            </a:r>
          </a:p>
          <a:p>
            <a:r>
              <a:rPr lang="zh-CN" altLang="zh-CN" b="1" dirty="0"/>
              <a:t>语言模型内部其实已经具有一定的推理能力，而把 intermediate reasoning 显式地生成出来，可以显著改善复杂任务上的表现。</a:t>
            </a:r>
            <a:endParaRPr lang="zh-CN" altLang="zh-CN" dirty="0"/>
          </a:p>
          <a:p>
            <a:r>
              <a:rPr lang="zh-CN" altLang="zh-CN" dirty="0"/>
              <a:t>但是这里本质上还是 </a:t>
            </a:r>
            <a:r>
              <a:rPr lang="zh-CN" altLang="en-US" b="1" dirty="0"/>
              <a:t>提示词工程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我们并没有真正改变模型参数，也没有直接训练模型“什么样的 reasoning 更好”。</a:t>
            </a:r>
          </a:p>
          <a:p>
            <a:r>
              <a:rPr lang="zh-CN" altLang="zh-CN" dirty="0"/>
              <a:t>所以后来一个很自然的问题是：</a:t>
            </a:r>
          </a:p>
          <a:p>
            <a:r>
              <a:rPr lang="zh-CN" altLang="zh-CN" dirty="0"/>
              <a:t>既然模型可以产生不同的 reasoning paths，我们能不能进一步通过 feedback 去训练它，让它更倾向于产生好的 reasoning 和好的答案？</a:t>
            </a:r>
          </a:p>
          <a:p>
            <a:br>
              <a:rPr lang="zh-CN" altLang="zh-CN" dirty="0"/>
            </a:br>
            <a:endParaRPr lang="zh-CN" altLang="zh-CN" dirty="0"/>
          </a:p>
          <a:p>
            <a:r>
              <a:rPr lang="zh-CN" altLang="zh-CN" dirty="0"/>
              <a:t>中间这一部分可以把它理解成比较传统的 </a:t>
            </a:r>
            <a:r>
              <a:rPr lang="zh-CN" altLang="zh-CN" b="1" dirty="0"/>
              <a:t>Reinforcement Learning from Human Feedback，也就是 RLHF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对于同一个 prompt，模型可能产生不同的 responses。</a:t>
            </a:r>
          </a:p>
          <a:p>
            <a:r>
              <a:rPr lang="zh-CN" altLang="zh-CN" dirty="0"/>
              <a:t>比如这里有 reasoning path A 和 reasoning path B，最后分别得到 answer A 和 answer B。</a:t>
            </a:r>
          </a:p>
          <a:p>
            <a:r>
              <a:rPr lang="zh-CN" altLang="zh-CN" dirty="0"/>
              <a:t>然后我们让人类去判断：</a:t>
            </a:r>
          </a:p>
          <a:p>
            <a:r>
              <a:rPr lang="zh-CN" altLang="zh-CN" dirty="0"/>
              <a:t>哪一个 response 更好？</a:t>
            </a:r>
          </a:p>
          <a:p>
            <a:r>
              <a:rPr lang="zh-CN" altLang="zh-CN" dirty="0"/>
              <a:t>比如人类认为：</a:t>
            </a:r>
          </a:p>
          <a:p>
            <a:r>
              <a:rPr lang="zh-CN" altLang="zh-CN" dirty="0"/>
              <a:t>[</a:t>
            </a:r>
            <a:br>
              <a:rPr lang="zh-CN" altLang="zh-CN" dirty="0"/>
            </a:br>
            <a:r>
              <a:rPr lang="zh-CN" altLang="zh-CN" dirty="0"/>
              <a:t>A&gt;B.</a:t>
            </a:r>
            <a:br>
              <a:rPr lang="zh-CN" altLang="zh-CN" dirty="0"/>
            </a:br>
            <a:r>
              <a:rPr lang="zh-CN" altLang="zh-CN" dirty="0"/>
              <a:t>]</a:t>
            </a:r>
          </a:p>
          <a:p>
            <a:r>
              <a:rPr lang="zh-CN" altLang="zh-CN" dirty="0"/>
              <a:t>有了这种 preference information，我们就可以进一步学习 reward model，再利用 reinforcement learning 去更新 policy。</a:t>
            </a:r>
          </a:p>
          <a:p>
            <a:r>
              <a:rPr lang="zh-CN" altLang="zh-CN" dirty="0"/>
              <a:t>所以相对于左边的 Chain-of-Thought prompting，RLHF 的关键变化是：</a:t>
            </a:r>
          </a:p>
          <a:p>
            <a:r>
              <a:rPr lang="zh-CN" altLang="zh-CN" b="1" dirty="0"/>
              <a:t>我们不再只是诱导模型进行 reasoning，而是开始利用 feedback 主动优化模型的行为。</a:t>
            </a:r>
            <a:endParaRPr lang="zh-CN" altLang="zh-CN" dirty="0"/>
          </a:p>
          <a:p>
            <a:r>
              <a:rPr lang="zh-CN" altLang="zh-CN" dirty="0"/>
              <a:t>但是它也有一个非常明显的问题：</a:t>
            </a:r>
          </a:p>
          <a:p>
            <a:r>
              <a:rPr lang="zh-CN" altLang="zh-CN" b="1" dirty="0"/>
              <a:t>human feedback 很贵。</a:t>
            </a:r>
            <a:endParaRPr lang="zh-CN" altLang="zh-CN" dirty="0"/>
          </a:p>
          <a:p>
            <a:r>
              <a:rPr lang="zh-CN" altLang="zh-CN" dirty="0"/>
              <a:t>而且对于 reasoning task，特别是数学、代码这类任务，其实很多时候我们并不需要人类告诉我们哪个 answer 更好。</a:t>
            </a:r>
          </a:p>
          <a:p>
            <a:br>
              <a:rPr lang="zh-CN" altLang="zh-CN" dirty="0"/>
            </a:br>
            <a:endParaRPr lang="zh-CN" altLang="zh-CN" dirty="0"/>
          </a:p>
          <a:p>
            <a:r>
              <a:rPr lang="zh-CN" altLang="zh-CN" dirty="0"/>
              <a:t>这就引出了右边，也是我们今天真正关注的 setting：</a:t>
            </a:r>
          </a:p>
          <a:p>
            <a:r>
              <a:rPr lang="zh-CN" altLang="zh-CN" b="1" dirty="0"/>
              <a:t>Reinforcement Learning from Verifiable Rewards，RLVR。</a:t>
            </a:r>
            <a:endParaRPr lang="zh-CN" altLang="zh-CN" dirty="0"/>
          </a:p>
          <a:p>
            <a:r>
              <a:rPr lang="zh-CN" altLang="zh-CN" dirty="0"/>
              <a:t>对于很多 reasoning problems，我们有一个非常特殊的优势：</a:t>
            </a:r>
          </a:p>
          <a:p>
            <a:r>
              <a:rPr lang="zh-CN" altLang="zh-CN" dirty="0"/>
              <a:t>最终结果是可以自动验证的。</a:t>
            </a:r>
          </a:p>
          <a:p>
            <a:r>
              <a:rPr lang="zh-CN" altLang="zh-CN" dirty="0"/>
              <a:t>比如数学题，我们可以检查最终答案是否正确；</a:t>
            </a:r>
          </a:p>
          <a:p>
            <a:r>
              <a:rPr lang="zh-CN" altLang="zh-CN" dirty="0"/>
              <a:t>代码问题，我们可以运行 test cases；</a:t>
            </a:r>
          </a:p>
          <a:p>
            <a:r>
              <a:rPr lang="zh-CN" altLang="zh-CN" dirty="0"/>
              <a:t>一些 structured reasoning tasks，也可以通过 rule-based verifier 来判断结果。</a:t>
            </a:r>
          </a:p>
          <a:p>
            <a:r>
              <a:rPr lang="zh-CN" altLang="zh-CN" dirty="0"/>
              <a:t>所以模型生成 </a:t>
            </a:r>
            <a:r>
              <a:rPr lang="zh-CN" altLang="en-US" dirty="0"/>
              <a:t>推理链</a:t>
            </a:r>
            <a:r>
              <a:rPr lang="zh-CN" altLang="zh-CN" dirty="0"/>
              <a:t>和 </a:t>
            </a:r>
            <a:r>
              <a:rPr lang="zh-CN" altLang="en-US" dirty="0"/>
              <a:t>答案</a:t>
            </a:r>
            <a:r>
              <a:rPr lang="zh-CN" altLang="zh-CN" dirty="0"/>
              <a:t>之后，我们不再需要人工逐个比较 A 和 B。</a:t>
            </a:r>
          </a:p>
          <a:p>
            <a:r>
              <a:rPr lang="zh-CN" altLang="zh-CN" dirty="0"/>
              <a:t>我们可以直接用 verifier 得到一个</a:t>
            </a:r>
            <a:r>
              <a:rPr lang="zh-CN" altLang="en-US" dirty="0"/>
              <a:t>奖励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最简单的情况就是：</a:t>
            </a:r>
          </a:p>
          <a:p>
            <a:r>
              <a:rPr lang="zh-CN" altLang="zh-CN" dirty="0"/>
              <a:t>答对得到 1，答错得到 0。</a:t>
            </a:r>
          </a:p>
          <a:p>
            <a:r>
              <a:rPr lang="zh-CN" altLang="zh-CN" dirty="0"/>
              <a:t>这样就把一个原本依赖 expensive human feedback 的训练过程，转化成了一个可以大规模自动化的 reinforcement-learning problem。</a:t>
            </a:r>
          </a:p>
          <a:p>
            <a:br>
              <a:rPr lang="zh-CN" altLang="zh-CN" dirty="0"/>
            </a:br>
            <a:endParaRPr lang="zh-CN" altLang="zh-CN" dirty="0"/>
          </a:p>
          <a:p>
            <a:r>
              <a:rPr lang="zh-CN" altLang="zh-CN" dirty="0"/>
              <a:t>所以今天的 BASIS 工作关注的是最右边这个 setting：</a:t>
            </a:r>
          </a:p>
          <a:p>
            <a:r>
              <a:rPr lang="zh-CN" altLang="zh-CN" dirty="0"/>
              <a:t>给定一个 prompt，模型生成 reasoning 和 answer，verifier 给我们 reward；那么在这个 RLVR setting 里面，我们应该怎样更加高效地利用这些 reward 去训练模型？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7348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接下一页</a:t>
            </a:r>
          </a:p>
          <a:p>
            <a:r>
              <a:rPr lang="zh-CN" altLang="zh-CN" dirty="0"/>
              <a:t>所以接下来，我们先把右边这个 RLVR problem 用数学形式写下来。</a:t>
            </a:r>
          </a:p>
          <a:p>
            <a:r>
              <a:rPr lang="zh-CN" altLang="zh-CN" dirty="0"/>
              <a:t>我们先把整个问题抽象出来。</a:t>
            </a:r>
          </a:p>
          <a:p>
            <a:r>
              <a:rPr lang="zh-CN" altLang="zh-CN" dirty="0"/>
              <a:t>假设有一个 prompt，记作 (x)，它来自某一个数据分布 (D)。</a:t>
            </a:r>
          </a:p>
          <a:p>
            <a:r>
              <a:rPr lang="zh-CN" altLang="zh-CN" dirty="0"/>
              <a:t>比如这里就是一个非常简单的数学题：</a:t>
            </a:r>
          </a:p>
          <a:p>
            <a:r>
              <a:rPr lang="zh-CN" altLang="zh-CN" dirty="0"/>
              <a:t>Half the value of (3x-9) is (x+37)，问 (x) 等于多少。</a:t>
            </a:r>
          </a:p>
          <a:p>
            <a:r>
              <a:rPr lang="zh-CN" altLang="zh-CN" dirty="0"/>
              <a:t>给定这个 prompt，我们有当前的语言模型 policy，</a:t>
            </a:r>
          </a:p>
          <a:p>
            <a:r>
              <a:rPr lang="zh-CN" altLang="zh-CN" dirty="0"/>
              <a:t>[</a:t>
            </a:r>
            <a:br>
              <a:rPr lang="zh-CN" altLang="zh-CN" dirty="0"/>
            </a:br>
            <a:r>
              <a:rPr lang="zh-CN" altLang="zh-CN" dirty="0"/>
              <a:t>\pi_\theta(\cdot\mid x).</a:t>
            </a:r>
            <a:br>
              <a:rPr lang="zh-CN" altLang="zh-CN" dirty="0"/>
            </a:br>
            <a:r>
              <a:rPr lang="zh-CN" altLang="zh-CN" dirty="0"/>
              <a:t>]</a:t>
            </a:r>
          </a:p>
          <a:p>
            <a:r>
              <a:rPr lang="zh-CN" altLang="zh-CN" dirty="0"/>
              <a:t>模型会生成一个 rollout。</a:t>
            </a:r>
          </a:p>
          <a:p>
            <a:r>
              <a:rPr lang="zh-CN" altLang="zh-CN" dirty="0"/>
              <a:t>对于 reasoning model 来说，这个 rollout 里面既包括中间的 reasoning trace，也包括最后的 final answer。</a:t>
            </a:r>
          </a:p>
          <a:p>
            <a:r>
              <a:rPr lang="zh-CN" altLang="zh-CN" dirty="0"/>
              <a:t>例如这里，模型先把自然语言问题写成方程，</a:t>
            </a:r>
          </a:p>
          <a:p>
            <a:r>
              <a:rPr lang="zh-CN" altLang="zh-CN" dirty="0"/>
              <a:t>[</a:t>
            </a:r>
            <a:br>
              <a:rPr lang="zh-CN" altLang="zh-CN" dirty="0"/>
            </a:br>
            <a:r>
              <a:rPr lang="zh-CN" altLang="zh-CN" dirty="0"/>
              <a:t>\frac12(3x-9)=x+37,</a:t>
            </a:r>
            <a:br>
              <a:rPr lang="zh-CN" altLang="zh-CN" dirty="0"/>
            </a:br>
            <a:r>
              <a:rPr lang="zh-CN" altLang="zh-CN" dirty="0"/>
              <a:t>]</a:t>
            </a:r>
          </a:p>
          <a:p>
            <a:r>
              <a:rPr lang="zh-CN" altLang="zh-CN" dirty="0"/>
              <a:t>然后一步一步化简，最后得到 (x=83)。</a:t>
            </a:r>
          </a:p>
          <a:p>
            <a:r>
              <a:rPr lang="zh-CN" altLang="zh-CN" dirty="0"/>
              <a:t>所以我们可以把整个生成过程记作 (y)。</a:t>
            </a:r>
          </a:p>
          <a:p>
            <a:r>
              <a:rPr lang="zh-CN" altLang="zh-CN" dirty="0"/>
              <a:t>这里有时候会把 reasoning trace 单独记成 (c)，但对于今天这个报告，我们可以把 reasoning 和 final answer 整体看成一个 rollout (y)。</a:t>
            </a:r>
          </a:p>
          <a:p>
            <a:r>
              <a:rPr lang="zh-CN" altLang="zh-CN" dirty="0"/>
              <a:t>接下来，因为我们做的是 RL with verifiable rewards，也就是 RLVR，我们有一个 verifier。</a:t>
            </a:r>
          </a:p>
          <a:p>
            <a:r>
              <a:rPr lang="zh-CN" altLang="zh-CN" dirty="0"/>
              <a:t>比如数学问题最简单，最后答案是对还是错，我们可以自动检查。</a:t>
            </a:r>
          </a:p>
          <a:p>
            <a:r>
              <a:rPr lang="zh-CN" altLang="zh-CN" dirty="0"/>
              <a:t>于是每一个 prompt-response pair 会得到一个 reward：</a:t>
            </a:r>
          </a:p>
          <a:p>
            <a:r>
              <a:rPr lang="zh-CN" altLang="zh-CN" dirty="0"/>
              <a:t>[</a:t>
            </a:r>
            <a:br>
              <a:rPr lang="zh-CN" altLang="zh-CN" dirty="0"/>
            </a:br>
            <a:r>
              <a:rPr lang="zh-CN" altLang="zh-CN" dirty="0"/>
              <a:t>r(x,y).</a:t>
            </a:r>
            <a:br>
              <a:rPr lang="zh-CN" altLang="zh-CN" dirty="0"/>
            </a:br>
            <a:r>
              <a:rPr lang="zh-CN" altLang="zh-CN" dirty="0"/>
              <a:t>]</a:t>
            </a:r>
          </a:p>
          <a:p>
            <a:r>
              <a:rPr lang="zh-CN" altLang="zh-CN" dirty="0"/>
              <a:t>最典型的是 binary reward，答对是 1，答错是 0。</a:t>
            </a:r>
          </a:p>
          <a:p>
            <a:r>
              <a:rPr lang="zh-CN" altLang="zh-CN" dirty="0"/>
              <a:t>所以整个 RLVR pipeline 可以非常简单地理解成：</a:t>
            </a:r>
          </a:p>
          <a:p>
            <a:r>
              <a:rPr lang="zh-CN" altLang="zh-CN" b="1" dirty="0"/>
              <a:t>prompt → policy → reasoning and answer → verifier → reward。</a:t>
            </a: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7005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强化学习的基本框架可以理解成一个不断和环境交互的过程。</a:t>
            </a:r>
          </a:p>
          <a:p>
            <a:r>
              <a:rPr lang="zh-CN" altLang="zh-CN" dirty="0"/>
              <a:t>在每一个时间点 (t)，environment 会处在一个状态 (S_t)。Agent 根据当前状态，通过自己的 policy 选择一个 action (A_t)。</a:t>
            </a:r>
          </a:p>
          <a:p>
            <a:r>
              <a:rPr lang="zh-CN" altLang="zh-CN" dirty="0"/>
              <a:t>这个 action 会影响环境，环境一方面转移到下一个状态 (S_{t+1})，另一方面给 agent 一个 reward (R_t)。</a:t>
            </a:r>
          </a:p>
          <a:p>
            <a:r>
              <a:rPr lang="zh-CN" altLang="zh-CN" dirty="0"/>
              <a:t>然后这个过程不断重复。</a:t>
            </a:r>
          </a:p>
          <a:p>
            <a:r>
              <a:rPr lang="zh-CN" altLang="zh-CN" dirty="0"/>
              <a:t>所以强化学习和 supervised learning 一个比较大的区别是，我们通常不是直接告诉模型“正确的 action 是什么”，而是通过 reward 告诉它：</a:t>
            </a:r>
            <a:r>
              <a:rPr lang="zh-CN" altLang="zh-CN" b="1" dirty="0"/>
              <a:t>刚才做得好不好。</a:t>
            </a:r>
            <a:endParaRPr lang="zh-CN" altLang="zh-CN" dirty="0"/>
          </a:p>
          <a:p>
            <a:r>
              <a:rPr lang="zh-CN" altLang="zh-CN" dirty="0"/>
              <a:t>我们的目标就是学习一个最优 policy，使得整个交互过程中获得的 expected cumulative reward 尽可能大。</a:t>
            </a:r>
          </a:p>
          <a:p>
            <a:r>
              <a:rPr lang="zh-CN" altLang="zh-CN" dirty="0"/>
              <a:t>对于大语言模型其实也可以用类似的方式理解。LLM 就是这里的 agent，它根据输入生成 action，并根据最终得到的 reward 来更新 policy。</a:t>
            </a:r>
          </a:p>
          <a:p>
            <a:r>
              <a:rPr lang="zh-CN" altLang="zh-CN" dirty="0"/>
              <a:t>当然，我们今天关注的 LLM reasoning 相对更简单一些。我们可以把一个 prompt 看成输入，把完整的 reasoning 和 answer 看成一次 rollout，最后由 verifier 给出 reward。</a:t>
            </a:r>
          </a:p>
          <a:p>
            <a:r>
              <a:rPr lang="zh-CN" altLang="zh-CN" dirty="0"/>
              <a:t>所以接下来，我们就具体看一下在 LLM</a:t>
            </a:r>
            <a:r>
              <a:rPr lang="en-US" altLang="zh-CN" dirty="0"/>
              <a:t> </a:t>
            </a:r>
            <a:r>
              <a:rPr lang="zh-CN" altLang="en-US" dirty="0"/>
              <a:t>中</a:t>
            </a:r>
            <a:r>
              <a:rPr lang="en-US" altLang="zh-CN" dirty="0"/>
              <a:t>RL</a:t>
            </a:r>
            <a:r>
              <a:rPr lang="zh-CN" altLang="en-US" dirty="0"/>
              <a:t>算法究竟是怎么做的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8024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接下来我们看</a:t>
            </a:r>
            <a:r>
              <a:rPr lang="zh-CN" altLang="en-US" dirty="0"/>
              <a:t>最基础的</a:t>
            </a:r>
            <a:r>
              <a:rPr lang="en-US" altLang="zh-CN" dirty="0"/>
              <a:t>Reinforce</a:t>
            </a:r>
            <a:r>
              <a:rPr lang="zh-CN" altLang="en-US" dirty="0"/>
              <a:t> 算法，他的结构</a:t>
            </a:r>
            <a:r>
              <a:rPr lang="zh-CN" altLang="zh-CN" dirty="0"/>
              <a:t> 很简单：模型生成一个 response，verifier 告诉我们 reward，</a:t>
            </a:r>
          </a:p>
          <a:p>
            <a:r>
              <a:rPr lang="zh-CN" altLang="zh-CN" dirty="0"/>
              <a:t>如果这个 response reward 很高，就增加这个 response 的 probability；</a:t>
            </a:r>
          </a:p>
          <a:p>
            <a:r>
              <a:rPr lang="zh-CN" altLang="zh-CN" dirty="0"/>
              <a:t>如果 reward 比较低，就不要增加，或者根据具体 objective 降低它的 probability。</a:t>
            </a:r>
          </a:p>
          <a:p>
            <a:r>
              <a:rPr kumimoji="1" lang="zh-CN" altLang="en-US" dirty="0"/>
              <a:t>但是这样简单的算法有一个问题也就是</a:t>
            </a:r>
            <a:r>
              <a:rPr lang="zh-CN" altLang="zh-CN" dirty="0"/>
              <a:t>variance 会很大</a:t>
            </a:r>
            <a:r>
              <a:rPr lang="zh-CN" altLang="en-US" dirty="0"/>
              <a:t>，</a:t>
            </a:r>
            <a:r>
              <a:rPr lang="zh-CN" altLang="zh-CN" dirty="0"/>
              <a:t>一个重要原因是：</a:t>
            </a:r>
          </a:p>
          <a:p>
            <a:r>
              <a:rPr lang="zh-CN" altLang="zh-CN" dirty="0"/>
              <a:t>raw reward 里面不仅包含“这一个 response 相对于其他可能 response 到底好不好”的信息，它还混入了大量的 prompt-level variation。假设一道简单题当前成功率是 95%，另一道难题成功率只有 10%。即使两次 rollout 都得到 reward 1，它们相对于各自 prompt 的 expected reward 分别只有 0.05 和 0.9 的 advantage。如果直接使用 raw reward，prompt difficulty 所造成的 </a:t>
            </a:r>
            <a:r>
              <a:rPr lang="zh-CN" altLang="en-US" dirty="0"/>
              <a:t>方差</a:t>
            </a:r>
            <a:r>
              <a:rPr lang="zh-CN" altLang="zh-CN" dirty="0"/>
              <a:t>也会进入 </a:t>
            </a:r>
            <a:r>
              <a:rPr lang="zh-CN" altLang="en-US" dirty="0"/>
              <a:t>估计中</a:t>
            </a:r>
            <a:r>
              <a:rPr lang="zh-CN" altLang="zh-CN" dirty="0"/>
              <a:t>，从而产生额外 variance</a:t>
            </a:r>
            <a:r>
              <a:rPr lang="zh-CN" altLang="en-US" dirty="0"/>
              <a:t>，但对优化没有收益</a:t>
            </a:r>
            <a:r>
              <a:rPr lang="zh-CN" altLang="zh-CN" dirty="0"/>
              <a:t>。所以标准 policy gradient 里面，一个非常经典的 variance-reduction 方法，就是 </a:t>
            </a:r>
            <a:r>
              <a:rPr lang="zh-CN" altLang="en-US" dirty="0"/>
              <a:t>减去一个</a:t>
            </a:r>
            <a:r>
              <a:rPr lang="en-US" altLang="zh-CN" dirty="0"/>
              <a:t>baseline</a:t>
            </a:r>
            <a:r>
              <a:rPr lang="zh-CN" altLang="en-US" dirty="0"/>
              <a:t> ，把奖励信号变成优势信号，</a:t>
            </a:r>
            <a:r>
              <a:rPr lang="zh-CN" altLang="zh-CN" dirty="0"/>
              <a:t>这里最自然的 baseline 就是 value</a:t>
            </a:r>
            <a:r>
              <a:rPr lang="zh-CN" altLang="en-US" dirty="0"/>
              <a:t>也就是当前策略下这个</a:t>
            </a:r>
            <a:r>
              <a:rPr lang="en-US" altLang="zh-CN" dirty="0"/>
              <a:t>prompt</a:t>
            </a:r>
            <a:r>
              <a:rPr lang="zh-CN" altLang="en-US" dirty="0"/>
              <a:t>的</a:t>
            </a:r>
            <a:r>
              <a:rPr lang="en-US" altLang="zh-CN" dirty="0"/>
              <a:t>reward</a:t>
            </a:r>
            <a:r>
              <a:rPr lang="zh-CN" altLang="en-US" dirty="0"/>
              <a:t>均值，</a:t>
            </a:r>
            <a:r>
              <a:rPr lang="zh-CN" altLang="zh-CN" dirty="0"/>
              <a:t>因为如果我知道当前模型做这道题平均能得到多少 reward，那么</a:t>
            </a:r>
            <a:r>
              <a:rPr lang="zh-CN" altLang="en-US" dirty="0"/>
              <a:t>减去这个</a:t>
            </a:r>
            <a:r>
              <a:rPr lang="en-US" altLang="zh-CN" dirty="0"/>
              <a:t>baseline</a:t>
            </a:r>
            <a:r>
              <a:rPr lang="zh-CN" altLang="zh-CN" dirty="0"/>
              <a:t>就告诉我：</a:t>
            </a:r>
          </a:p>
          <a:p>
            <a:r>
              <a:rPr lang="zh-CN" altLang="zh-CN" b="1" dirty="0"/>
              <a:t>这一次回答，相对于这个 prompt 自己的正常水平，到底是好还是坏。</a:t>
            </a:r>
            <a:endParaRPr lang="zh-CN" altLang="zh-CN" dirty="0"/>
          </a:p>
          <a:p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5062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zh-CN" dirty="0"/>
            </a:b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1905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如果我既不训练 critic，也不对同一个 prompt 多次采样，那么 prompt (i) 的 value 到底从哪里来？</a:t>
            </a:r>
          </a:p>
          <a:p>
            <a:r>
              <a:rPr lang="zh-CN" altLang="zh-CN" dirty="0"/>
              <a:t>答案就是：</a:t>
            </a:r>
          </a:p>
          <a:p>
            <a:r>
              <a:rPr lang="zh-CN" altLang="zh-CN" b="1" dirty="0"/>
              <a:t>别的 prompts。</a:t>
            </a: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2041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这是 BASIS 最核心的 intuition。</a:t>
            </a:r>
            <a:endParaRPr lang="en-US" altLang="zh-CN" dirty="0"/>
          </a:p>
          <a:p>
            <a:r>
              <a:rPr lang="zh-CN" altLang="zh-CN" dirty="0"/>
              <a:t>现在很多方法在处理一个 mini-batch 时，虽然 batch 里面可能有几十、几百道题，但是每个 prompt 基本被当成一个独立 </a:t>
            </a:r>
            <a:r>
              <a:rPr lang="zh-CN" altLang="en-US" dirty="0"/>
              <a:t>训练单位</a:t>
            </a:r>
            <a:r>
              <a:rPr lang="zh-CN" altLang="zh-CN" dirty="0"/>
              <a:t>。prompt 1 的 baseline，只由 prompt 1 自己的 samples 决定。</a:t>
            </a:r>
          </a:p>
          <a:p>
            <a:r>
              <a:rPr lang="zh-CN" altLang="zh-CN" dirty="0"/>
              <a:t>prompt 2 的 baseline，只看 prompt 2。不同 prompts 之间其实没有真正共享信息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但我们想问：</a:t>
            </a:r>
          </a:p>
          <a:p>
            <a:r>
              <a:rPr lang="zh-CN" altLang="zh-CN" dirty="0"/>
              <a:t>这些 prompts 真的是完全 </a:t>
            </a:r>
            <a:r>
              <a:rPr lang="zh-CN" altLang="en-US" dirty="0"/>
              <a:t>独立的</a:t>
            </a:r>
            <a:r>
              <a:rPr lang="zh-CN" altLang="zh-CN" dirty="0"/>
              <a:t> 吗？</a:t>
            </a:r>
          </a:p>
          <a:p>
            <a:r>
              <a:rPr lang="zh-CN" altLang="zh-CN" dirty="0"/>
              <a:t>至少从 reward 的角度，不一定。</a:t>
            </a:r>
          </a:p>
          <a:p>
            <a:r>
              <a:rPr lang="zh-CN" altLang="zh-CN" dirty="0"/>
              <a:t>所以不同 prompts 背后</a:t>
            </a:r>
            <a:r>
              <a:rPr lang="zh-CN" altLang="en-US" dirty="0"/>
              <a:t>可能</a:t>
            </a:r>
            <a:r>
              <a:rPr lang="zh-CN" altLang="zh-CN" dirty="0"/>
              <a:t>存在</a:t>
            </a:r>
            <a:r>
              <a:rPr lang="zh-CN" altLang="en-US" dirty="0"/>
              <a:t>一个隐藏的关联，</a:t>
            </a:r>
            <a:r>
              <a:rPr lang="zh-CN" altLang="zh-CN" dirty="0"/>
              <a:t>它可能反映 difficulty，可能反映当前模型的 competence，也可能反映 verifier 下的 </a:t>
            </a:r>
            <a:r>
              <a:rPr lang="zh-CN" altLang="en-US" dirty="0"/>
              <a:t>奖励信号的表现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因此，我们提出一个不同的观点：</a:t>
            </a:r>
          </a:p>
          <a:p>
            <a:r>
              <a:rPr lang="zh-CN" altLang="zh-CN" b="1" dirty="0"/>
              <a:t>mini-batch 本身可以被当成一个 statistical neighborhood。</a:t>
            </a:r>
            <a:endParaRPr lang="zh-CN" altLang="zh-CN" dirty="0"/>
          </a:p>
          <a:p>
            <a:r>
              <a:rPr lang="zh-CN" altLang="zh-CN" dirty="0"/>
              <a:t>如果 prompt (i) 自己只有一个 rollout，我们可以问：</a:t>
            </a:r>
          </a:p>
          <a:p>
            <a:r>
              <a:rPr lang="zh-CN" altLang="zh-CN" dirty="0"/>
              <a:t>batch 里面其他 prompts 的 rewards，能不能帮助估计 (V_i)？</a:t>
            </a:r>
          </a:p>
          <a:p>
            <a:r>
              <a:rPr lang="zh-CN" altLang="zh-CN" dirty="0"/>
              <a:t>BASIS 就是从这里开始的。</a:t>
            </a:r>
          </a:p>
          <a:p>
            <a:r>
              <a:rPr lang="zh-CN" altLang="zh-CN" dirty="0"/>
              <a:t>与 REINFORCE++ 使用同一个 global batch mean 不一样，BASIS 并不是认为“所有 prompts 一样”。</a:t>
            </a:r>
          </a:p>
          <a:p>
            <a:r>
              <a:rPr lang="zh-CN" altLang="zh-CN" dirty="0"/>
              <a:t>它真正希望学习的是：</a:t>
            </a:r>
          </a:p>
          <a:p>
            <a:r>
              <a:rPr lang="zh-CN" altLang="zh-CN" b="1" dirty="0"/>
              <a:t>对于目标 prompt (i)，batch 里面每一个其他 prompt (j)，应该贡献多少信息？</a:t>
            </a: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3747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所以这</a:t>
            </a:r>
            <a:r>
              <a:rPr lang="en-US" altLang="zh-CN" dirty="0"/>
              <a:t>basis</a:t>
            </a:r>
            <a:r>
              <a:rPr lang="zh-CN" altLang="zh-CN" dirty="0"/>
              <a:t>可以用一句话概括：</a:t>
            </a:r>
          </a:p>
          <a:p>
            <a:r>
              <a:rPr lang="zh-CN" altLang="zh-CN" b="1" dirty="0"/>
              <a:t>我们没有改变 policy optimization 的主体，只改变 baseline estimator。</a:t>
            </a:r>
            <a:endParaRPr lang="zh-CN" altLang="zh-CN" dirty="0"/>
          </a:p>
          <a:p>
            <a:r>
              <a:rPr lang="zh-CN" altLang="zh-CN" dirty="0"/>
              <a:t>原来的 group-based 方法：</a:t>
            </a:r>
          </a:p>
          <a:p>
            <a:r>
              <a:rPr lang="zh-CN" altLang="zh-CN" dirty="0"/>
              <a:t>沿着同一个 prompt 的 rollout dimension 聚合信息。</a:t>
            </a:r>
          </a:p>
          <a:p>
            <a:r>
              <a:rPr lang="zh-CN" altLang="zh-CN" dirty="0"/>
              <a:t>BASIS：</a:t>
            </a:r>
          </a:p>
          <a:p>
            <a:r>
              <a:rPr lang="zh-CN" altLang="zh-CN" dirty="0"/>
              <a:t>沿着 batch 里面的 prompt dimension 聚合信息。</a:t>
            </a:r>
          </a:p>
          <a:p>
            <a:r>
              <a:rPr lang="zh-CN" altLang="zh-CN" dirty="0"/>
              <a:t>所以后面这个 advantage 仍然可以放进 GRPO、GPG、GSPO 等</a:t>
            </a:r>
            <a:r>
              <a:rPr lang="zh-CN" altLang="en-US" dirty="0"/>
              <a:t>不同的算法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这一点后面实验也会看到。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6929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在正式讲方法之前，我先给大家看一下最终结果。</a:t>
            </a:r>
          </a:p>
          <a:p>
            <a:r>
              <a:rPr lang="zh-CN" altLang="zh-CN" dirty="0"/>
              <a:t>我觉得这样大家会更容易理解，我们为什么值得花时间做后面这些 estimator。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那它到底是怎么做到的？</a:t>
            </a:r>
          </a:p>
          <a:p>
            <a:r>
              <a:rPr lang="zh-CN" altLang="zh-CN" dirty="0"/>
              <a:t>我们开始进入方法部分。</a:t>
            </a:r>
          </a:p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4014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BASIS 真正要回答两个问题。</a:t>
            </a:r>
          </a:p>
          <a:p>
            <a:r>
              <a:rPr lang="zh-CN" altLang="zh-CN" dirty="0"/>
              <a:t>第一个问题：</a:t>
            </a:r>
          </a:p>
          <a:p>
            <a:r>
              <a:rPr lang="zh-CN" altLang="zh-CN" b="1" dirty="0"/>
              <a:t>我们怎么定义 prompts 之间可以共享的信息？</a:t>
            </a:r>
            <a:endParaRPr lang="zh-CN" altLang="zh-CN" dirty="0"/>
          </a:p>
          <a:p>
            <a:r>
              <a:rPr lang="zh-CN" altLang="zh-CN" dirty="0"/>
              <a:t>不能只说“我觉得这两道题很像”。</a:t>
            </a:r>
          </a:p>
          <a:p>
            <a:r>
              <a:rPr lang="zh-CN" altLang="zh-CN" dirty="0"/>
              <a:t>我们需要一个统计意义上明确的 quantity。</a:t>
            </a:r>
          </a:p>
          <a:p>
            <a:r>
              <a:rPr lang="zh-CN" altLang="zh-CN" dirty="0"/>
              <a:t>第二个问题：</a:t>
            </a:r>
          </a:p>
          <a:p>
            <a:r>
              <a:rPr lang="zh-CN" altLang="zh-CN" dirty="0"/>
              <a:t>即使我们知道 prompts 之间存在 shared information，</a:t>
            </a:r>
          </a:p>
          <a:p>
            <a:r>
              <a:rPr lang="zh-CN" altLang="zh-CN" b="1" dirty="0"/>
              <a:t>怎么把它变成一个低 MSE 的 value estimator？</a:t>
            </a:r>
            <a:endParaRPr lang="zh-CN" altLang="zh-CN" dirty="0"/>
          </a:p>
          <a:p>
            <a:r>
              <a:rPr lang="zh-CN" altLang="zh-CN" dirty="0"/>
              <a:t>接下来先从第二个问题倒着讲。</a:t>
            </a:r>
          </a:p>
          <a:p>
            <a:r>
              <a:rPr lang="zh-CN" altLang="zh-CN" dirty="0"/>
              <a:t>我们先</a:t>
            </a:r>
            <a:r>
              <a:rPr lang="zh-CN" altLang="en-US" dirty="0"/>
              <a:t>解决第二个</a:t>
            </a:r>
            <a:r>
              <a:rPr lang="zh-CN" altLang="zh-CN" dirty="0"/>
              <a:t>：</a:t>
            </a:r>
          </a:p>
          <a:p>
            <a:r>
              <a:rPr lang="zh-CN" altLang="zh-CN" dirty="0"/>
              <a:t>如果我已经知道每个 prompt 的真实 value 结构，那么理论上最好的 cross-prompt linear estimator 应该长什么样？</a:t>
            </a:r>
            <a:br>
              <a:rPr lang="en-US" altLang="zh-CN" dirty="0"/>
            </a:br>
            <a:r>
              <a:rPr lang="zh-CN" altLang="en-US" dirty="0"/>
              <a:t>然后再去看知道了这个</a:t>
            </a:r>
            <a:r>
              <a:rPr lang="en-US" altLang="zh-CN" dirty="0"/>
              <a:t>estimator</a:t>
            </a:r>
            <a:r>
              <a:rPr lang="zh-CN" altLang="en-US" dirty="0"/>
              <a:t>之后，我们需要估计哪些量去计算他</a:t>
            </a: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8660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找</a:t>
            </a:r>
            <a:r>
              <a:rPr kumimoji="1" lang="en-US" altLang="zh-CN" dirty="0"/>
              <a:t>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8686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先讲这个转化成优化问题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zh-CN" dirty="0"/>
              <a:t>这个式子的 intuition 其实非常漂亮。</a:t>
            </a:r>
          </a:p>
          <a:p>
            <a:r>
              <a:rPr lang="zh-CN" altLang="zh-CN" dirty="0"/>
              <a:t>首先，weight 和 target value (V_i) 有关。</a:t>
            </a:r>
          </a:p>
          <a:p>
            <a:r>
              <a:rPr lang="zh-CN" altLang="zh-CN" dirty="0"/>
              <a:t>说明 baseline 是 prompt-specific 的。</a:t>
            </a:r>
          </a:p>
          <a:p>
            <a:r>
              <a:rPr lang="zh-CN" altLang="zh-CN" dirty="0"/>
              <a:t>第二，它和 source prompt 的 value (V_j) 有关。</a:t>
            </a:r>
          </a:p>
          <a:p>
            <a:r>
              <a:rPr lang="zh-CN" altLang="zh-CN" dirty="0"/>
              <a:t>第三，它和 source reward 的 variance 成反比。</a:t>
            </a:r>
          </a:p>
          <a:p>
            <a:r>
              <a:rPr lang="zh-CN" altLang="zh-CN" dirty="0"/>
              <a:t>也就是说：</a:t>
            </a:r>
          </a:p>
          <a:p>
            <a:r>
              <a:rPr lang="zh-CN" altLang="zh-CN" b="1" dirty="0"/>
              <a:t>越稳定的 source，我们越相信。</a:t>
            </a:r>
            <a:endParaRPr lang="zh-CN" altLang="zh-CN" dirty="0"/>
          </a:p>
          <a:p>
            <a:r>
              <a:rPr lang="zh-CN" altLang="zh-CN" dirty="0"/>
              <a:t>这就是一个很经典的 statistical weighting idea。</a:t>
            </a:r>
          </a:p>
          <a:p>
            <a:r>
              <a:rPr lang="zh-CN" altLang="zh-CN" dirty="0"/>
              <a:t>但是现在马上出现一个问题。</a:t>
            </a:r>
          </a:p>
          <a:p>
            <a:r>
              <a:rPr lang="zh-CN" altLang="zh-CN" dirty="0"/>
              <a:t>这个公式虽然理论上很好，但是根本不能直接用。而如果我已经知道真正的 (V_{i,t})，我根本就不需要 estimate value 了。</a:t>
            </a:r>
          </a:p>
          <a:p>
            <a:r>
              <a:rPr lang="zh-CN" altLang="zh-CN" dirty="0"/>
              <a:t>所以 Proposition 1 在这里并不是最终 algorithm。</a:t>
            </a:r>
          </a:p>
          <a:p>
            <a:r>
              <a:rPr lang="zh-CN" altLang="zh-CN" dirty="0"/>
              <a:t>它真正提供的是一个 </a:t>
            </a:r>
            <a:r>
              <a:rPr lang="zh-CN" altLang="zh-CN" b="1" dirty="0"/>
              <a:t>oracle </a:t>
            </a:r>
            <a:r>
              <a:rPr lang="zh-CN" altLang="en-US" b="1" dirty="0"/>
              <a:t>方案</a:t>
            </a:r>
            <a:r>
              <a:rPr lang="zh-CN" altLang="zh-CN" dirty="0"/>
              <a:t>：</a:t>
            </a:r>
          </a:p>
          <a:p>
            <a:r>
              <a:rPr lang="zh-CN" altLang="zh-CN" dirty="0"/>
              <a:t>它告诉我们，如果能够找到一个好的 </a:t>
            </a:r>
            <a:r>
              <a:rPr lang="en-US" altLang="zh-CN" dirty="0"/>
              <a:t>prompt</a:t>
            </a:r>
            <a:r>
              <a:rPr lang="zh-CN" altLang="en-US" dirty="0"/>
              <a:t> 层面的信息估计</a:t>
            </a:r>
            <a:r>
              <a:rPr lang="zh-CN" altLang="zh-CN" dirty="0"/>
              <a:t>，就可以把它 </a:t>
            </a:r>
            <a:r>
              <a:rPr lang="zh-CN" altLang="en-US" dirty="0"/>
              <a:t>带入</a:t>
            </a:r>
            <a:r>
              <a:rPr lang="zh-CN" altLang="zh-CN" dirty="0"/>
              <a:t>这个 optimal weighting structure。</a:t>
            </a:r>
          </a:p>
          <a:p>
            <a:r>
              <a:rPr lang="zh-CN" altLang="zh-CN" dirty="0"/>
              <a:t>所以下一个问题变成：</a:t>
            </a:r>
          </a:p>
          <a:p>
            <a:r>
              <a:rPr lang="zh-CN" altLang="zh-CN" b="1" dirty="0"/>
              <a:t>怎么获得一个便宜的、</a:t>
            </a:r>
            <a:r>
              <a:rPr lang="en-US" altLang="zh-CN" b="1" dirty="0"/>
              <a:t>prompt</a:t>
            </a:r>
            <a:r>
              <a:rPr lang="zh-CN" altLang="en-US" b="1" dirty="0"/>
              <a:t>层面的</a:t>
            </a:r>
            <a:r>
              <a:rPr lang="zh-CN" altLang="zh-CN" b="1" dirty="0"/>
              <a:t> 的</a:t>
            </a:r>
            <a:r>
              <a:rPr lang="en-US" altLang="zh-CN" b="1" dirty="0"/>
              <a:t>value</a:t>
            </a:r>
            <a:r>
              <a:rPr lang="zh-CN" altLang="en-US" b="1" dirty="0"/>
              <a:t> 信号</a:t>
            </a:r>
            <a:endParaRPr lang="zh-CN" altLang="zh-CN" dirty="0"/>
          </a:p>
          <a:p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7119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这里就是 BASIS 第二个非常重要的部分：</a:t>
            </a:r>
          </a:p>
          <a:p>
            <a:r>
              <a:rPr lang="zh-CN" altLang="zh-CN" b="1" dirty="0"/>
              <a:t>offline value estimation。</a:t>
            </a:r>
            <a:endParaRPr lang="zh-CN" altLang="zh-CN" dirty="0"/>
          </a:p>
          <a:p>
            <a:r>
              <a:rPr lang="zh-CN" altLang="zh-CN" dirty="0"/>
              <a:t>我们先定义一个</a:t>
            </a:r>
            <a:r>
              <a:rPr lang="zh-CN" altLang="en-US" dirty="0"/>
              <a:t>固定</a:t>
            </a:r>
            <a:r>
              <a:rPr lang="zh-CN" altLang="zh-CN" dirty="0"/>
              <a:t>reference policy：</a:t>
            </a:r>
          </a:p>
          <a:p>
            <a:r>
              <a:rPr lang="zh-CN" altLang="zh-CN" dirty="0"/>
              <a:t>在我们的 setting 里面，它就是 RL training 开始之前的 initial policy。</a:t>
            </a:r>
          </a:p>
          <a:p>
            <a:r>
              <a:rPr lang="zh-CN" altLang="zh-CN" dirty="0"/>
              <a:t>然后考虑一个 KL-regularized optimization problem。</a:t>
            </a:r>
          </a:p>
          <a:p>
            <a:r>
              <a:rPr lang="zh-CN" altLang="zh-CN" dirty="0"/>
              <a:t>对于一个 policy (\pi)，目标是最大化 reward，同时不要离 reference policy 太远。</a:t>
            </a:r>
          </a:p>
          <a:p>
            <a:endParaRPr lang="en-US" altLang="zh-CN" dirty="0"/>
          </a:p>
          <a:p>
            <a:r>
              <a:rPr lang="zh-CN" altLang="zh-CN" dirty="0"/>
              <a:t>这是论文的 Proposition 2。</a:t>
            </a:r>
          </a:p>
          <a:p>
            <a:r>
              <a:rPr lang="zh-CN" altLang="zh-CN" dirty="0"/>
              <a:t>这个式子为什么特别有用？</a:t>
            </a:r>
          </a:p>
          <a:p>
            <a:r>
              <a:rPr lang="zh-CN" altLang="zh-CN" dirty="0"/>
              <a:t>因为右边所有 expectation 都是在 </a:t>
            </a:r>
            <a:r>
              <a:rPr lang="zh-CN" altLang="zh-CN" b="1" dirty="0"/>
              <a:t>reference policy</a:t>
            </a:r>
            <a:r>
              <a:rPr lang="zh-CN" altLang="zh-CN" dirty="0"/>
              <a:t> 下。</a:t>
            </a:r>
          </a:p>
          <a:p>
            <a:r>
              <a:rPr lang="zh-CN" altLang="zh-CN" dirty="0"/>
              <a:t>所以我们根本不需要真的训练或者 sampling from (\pi_\beta^*)。</a:t>
            </a:r>
          </a:p>
          <a:p>
            <a:r>
              <a:rPr lang="zh-CN" altLang="zh-CN" dirty="0"/>
              <a:t>我们只需要在 RL 开始之前，对于每个 training prompt，从 frozen reference model 预先生成一组 rollouts。</a:t>
            </a:r>
          </a:p>
          <a:p>
            <a:r>
              <a:rPr lang="zh-CN" altLang="zh-CN" dirty="0"/>
              <a:t>把每个 rollout 的 reward 存下来。</a:t>
            </a:r>
          </a:p>
          <a:p>
            <a:r>
              <a:rPr lang="zh-CN" altLang="zh-CN" dirty="0"/>
              <a:t>这样以后对于任何 (\beta)，都可以直接利用同一套 cached data 计算：</a:t>
            </a:r>
          </a:p>
          <a:p>
            <a:r>
              <a:rPr lang="zh-CN" altLang="zh-CN" dirty="0"/>
              <a:t>[</a:t>
            </a:r>
            <a:br>
              <a:rPr lang="zh-CN" altLang="zh-CN" dirty="0"/>
            </a:br>
            <a:r>
              <a:rPr lang="zh-CN" altLang="zh-CN" dirty="0"/>
              <a:t>\widehat V_\beta(x).</a:t>
            </a:r>
            <a:br>
              <a:rPr lang="zh-CN" altLang="zh-CN" dirty="0"/>
            </a:br>
            <a:r>
              <a:rPr lang="zh-CN" altLang="zh-CN" dirty="0"/>
              <a:t>]</a:t>
            </a:r>
          </a:p>
          <a:p>
            <a:r>
              <a:rPr lang="zh-CN" altLang="zh-CN" dirty="0"/>
              <a:t>所以这一步叫 offline estimation。</a:t>
            </a:r>
          </a:p>
          <a:p>
            <a:r>
              <a:rPr lang="zh-CN" altLang="zh-CN" dirty="0"/>
              <a:t>它有两个很重要的 properties。</a:t>
            </a:r>
          </a:p>
          <a:p>
            <a:r>
              <a:rPr lang="zh-CN" altLang="zh-CN" dirty="0"/>
              <a:t>第一，它是 prompt-specific 的。</a:t>
            </a:r>
          </a:p>
          <a:p>
            <a:r>
              <a:rPr lang="zh-CN" altLang="zh-CN" dirty="0"/>
              <a:t>不同题会有不同的 initial value signal。</a:t>
            </a:r>
          </a:p>
          <a:p>
            <a:r>
              <a:rPr lang="zh-CN" altLang="zh-CN" dirty="0"/>
              <a:t>第二，同一个 offline cache 可以支持不同的 (\beta)。</a:t>
            </a:r>
          </a:p>
          <a:p>
            <a:r>
              <a:rPr lang="zh-CN" altLang="zh-CN" dirty="0"/>
              <a:t>不需要随着训练重新 rollout reference model。</a:t>
            </a:r>
          </a:p>
          <a:p>
            <a:r>
              <a:rPr lang="zh-CN" altLang="zh-CN" dirty="0"/>
              <a:t>所以它非常适合重复利用。</a:t>
            </a:r>
          </a:p>
          <a:p>
            <a:r>
              <a:rPr lang="zh-CN" altLang="zh-CN" dirty="0"/>
              <a:t>不过现在还有一个问题：</a:t>
            </a:r>
          </a:p>
          <a:p>
            <a:r>
              <a:rPr lang="zh-CN" altLang="zh-CN" dirty="0"/>
              <a:t>当前 policy 会随着 training 不断变化。</a:t>
            </a:r>
          </a:p>
          <a:p>
            <a:r>
              <a:rPr lang="zh-CN" altLang="zh-CN" dirty="0"/>
              <a:t>reference policy 的 value 并不等于 training step 100、step 200 时的 current value。</a:t>
            </a:r>
          </a:p>
          <a:p>
            <a:r>
              <a:rPr lang="zh-CN" altLang="zh-CN" dirty="0"/>
              <a:t>所以到底选哪个 (\beta)？</a:t>
            </a:r>
          </a:p>
          <a:p>
            <a:r>
              <a:rPr lang="zh-CN" altLang="zh-CN" dirty="0"/>
              <a:t>这就是下一页。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5001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这里首先有一个非常自然的 intuition。</a:t>
            </a:r>
          </a:p>
          <a:p>
            <a:r>
              <a:rPr lang="zh-CN" altLang="zh-CN" dirty="0"/>
              <a:t>training 刚开始的时候，</a:t>
            </a:r>
          </a:p>
          <a:p>
            <a:r>
              <a:rPr lang="zh-CN" altLang="zh-CN" dirty="0"/>
              <a:t>这个时候我们希望 oracle policy 不要离 reference 太远。</a:t>
            </a:r>
          </a:p>
          <a:p>
            <a:r>
              <a:rPr lang="zh-CN" altLang="zh-CN" dirty="0"/>
              <a:t>在 KL-regularized view 下，对应的是比较大的 (\beta)。</a:t>
            </a:r>
          </a:p>
          <a:p>
            <a:r>
              <a:rPr lang="zh-CN" altLang="zh-CN" dirty="0"/>
              <a:t>极端情况下，</a:t>
            </a:r>
          </a:p>
          <a:p>
            <a:r>
              <a:rPr lang="zh-CN" altLang="zh-CN" dirty="0"/>
              <a:t>随着 RL training 不断进行，当前 model 会越来越偏向高 reward responses。</a:t>
            </a:r>
          </a:p>
          <a:p>
            <a:r>
              <a:rPr lang="zh-CN" altLang="zh-CN" dirty="0"/>
              <a:t>所以我们希望 (\beta) 逐渐降低。</a:t>
            </a:r>
          </a:p>
          <a:p>
            <a:endParaRPr lang="en-US" altLang="zh-CN" dirty="0"/>
          </a:p>
          <a:p>
            <a:r>
              <a:rPr lang="zh-CN" altLang="zh-CN" dirty="0"/>
              <a:t>reward term 占主导，oracle policy 越来越接近 reward-optimal policy。</a:t>
            </a:r>
          </a:p>
          <a:p>
            <a:r>
              <a:rPr lang="zh-CN" altLang="zh-CN" dirty="0"/>
              <a:t>所以不同的 (\beta) 实际上给我们提供了一族 value estimates</a:t>
            </a:r>
          </a:p>
          <a:p>
            <a:endParaRPr lang="zh-CN" altLang="zh-CN" dirty="0"/>
          </a:p>
          <a:p>
            <a:r>
              <a:rPr lang="zh-CN" altLang="zh-CN" dirty="0"/>
              <a:t>可以把它理解成：</a:t>
            </a:r>
          </a:p>
          <a:p>
            <a:r>
              <a:rPr lang="zh-CN" altLang="zh-CN" dirty="0"/>
              <a:t>从“reference model 的 difficulty profile”一直到“接近 reward-optimal model 的 difficulty profile”的一条连续路径。</a:t>
            </a:r>
          </a:p>
          <a:p>
            <a:r>
              <a:rPr lang="zh-CN" altLang="zh-CN" dirty="0"/>
              <a:t>那么 current training step 应该落在什么地方？</a:t>
            </a:r>
          </a:p>
          <a:p>
            <a:r>
              <a:rPr lang="zh-CN" altLang="zh-CN" dirty="0"/>
              <a:t>BASIS 的做法是 data-adaptive</a:t>
            </a:r>
            <a:r>
              <a:rPr lang="zh-CN" altLang="en-US" dirty="0"/>
              <a:t> </a:t>
            </a:r>
            <a:r>
              <a:rPr lang="en-US" altLang="zh-CN" dirty="0"/>
              <a:t>online</a:t>
            </a:r>
            <a:r>
              <a:rPr lang="zh-CN" altLang="zh-CN" dirty="0"/>
              <a:t> calibration。</a:t>
            </a:r>
          </a:p>
          <a:p>
            <a:r>
              <a:rPr lang="zh-CN" altLang="zh-CN" dirty="0"/>
              <a:t>对每一个 </a:t>
            </a:r>
            <a:r>
              <a:rPr lang="zh-CN" altLang="en-US" dirty="0"/>
              <a:t>在线步骤</a:t>
            </a:r>
            <a:r>
              <a:rPr lang="zh-CN" altLang="zh-CN" dirty="0"/>
              <a:t>，选择使当前 batch prediction error 最小的</a:t>
            </a:r>
            <a:r>
              <a:rPr lang="en-US" altLang="zh-CN" dirty="0"/>
              <a:t>beta</a:t>
            </a:r>
            <a:r>
              <a:rPr lang="zh-CN" altLang="en-US" dirty="0"/>
              <a:t>，当然在实际做的时候我们也可以让</a:t>
            </a:r>
            <a:r>
              <a:rPr lang="en-US" altLang="zh-CN" dirty="0"/>
              <a:t>beta</a:t>
            </a:r>
            <a:r>
              <a:rPr lang="zh-CN" altLang="en-US" dirty="0"/>
              <a:t>进行在线的衰减，在我们的</a:t>
            </a:r>
            <a:r>
              <a:rPr lang="en-US" altLang="zh-CN" dirty="0"/>
              <a:t>setting</a:t>
            </a:r>
            <a:r>
              <a:rPr lang="zh-CN" altLang="en-US" dirty="0"/>
              <a:t>下，做这个</a:t>
            </a:r>
            <a:r>
              <a:rPr lang="en-US" altLang="zh-CN" dirty="0"/>
              <a:t>online</a:t>
            </a:r>
            <a:r>
              <a:rPr lang="zh-CN" altLang="en-US" dirty="0"/>
              <a:t> </a:t>
            </a:r>
            <a:r>
              <a:rPr lang="en-US" altLang="zh-CN" dirty="0"/>
              <a:t>beta</a:t>
            </a:r>
            <a:r>
              <a:rPr lang="zh-CN" altLang="en-US" dirty="0"/>
              <a:t> </a:t>
            </a:r>
            <a:r>
              <a:rPr lang="en-US" altLang="zh-CN" dirty="0"/>
              <a:t>calibration</a:t>
            </a:r>
            <a:r>
              <a:rPr lang="zh-CN" altLang="en-US" dirty="0"/>
              <a:t>其实几乎是没有任何</a:t>
            </a:r>
            <a:r>
              <a:rPr lang="en-US" altLang="zh-CN" dirty="0"/>
              <a:t>cost</a:t>
            </a:r>
            <a:r>
              <a:rPr lang="zh-CN" altLang="en-US" dirty="0"/>
              <a:t>的，因为这个计算很简单。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而且实验证明，selected (\beta_t) 总体上随着 training 进行会下降，这和刚才的 intuition 是一致的。</a:t>
            </a:r>
          </a:p>
          <a:p>
            <a:r>
              <a:rPr lang="zh-CN" altLang="zh-CN" dirty="0"/>
              <a:t>所以这里的重点是：</a:t>
            </a:r>
          </a:p>
          <a:p>
            <a:r>
              <a:rPr lang="zh-CN" altLang="zh-CN" b="1" dirty="0"/>
              <a:t>offline data 是固定的，但它如何解释 current policy，是 online 自适应的。</a:t>
            </a: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677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93944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4E87E-6E4A-EBEA-3D28-647A93292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EE5213-CAA0-C5CB-C699-7ED04E00F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4483D0-F970-899F-970A-36F184351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zh-CN" dirty="0"/>
            </a:b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EBAFA7-779A-7808-3C93-87BF03E43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72810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这一页把整个 BASIS pipeline 一次串起来。</a:t>
            </a:r>
          </a:p>
          <a:p>
            <a:r>
              <a:rPr lang="zh-CN" altLang="en-US" dirty="0"/>
              <a:t>先</a:t>
            </a:r>
            <a:r>
              <a:rPr lang="zh-CN" altLang="zh-CN" dirty="0"/>
              <a:t>从左上角开始看。</a:t>
            </a:r>
          </a:p>
          <a:p>
            <a:r>
              <a:rPr lang="zh-CN" altLang="zh-CN" dirty="0"/>
              <a:t>第一步，</a:t>
            </a:r>
            <a:r>
              <a:rPr lang="zh-CN" altLang="zh-CN" b="1" dirty="0"/>
              <a:t>offline value estimation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在 RL training 开始之前，我们有 training prompts。</a:t>
            </a:r>
          </a:p>
          <a:p>
            <a:r>
              <a:rPr lang="zh-CN" altLang="zh-CN" dirty="0"/>
              <a:t>用 frozen reference LLM 对这些 prompts 生成 rollouts。</a:t>
            </a:r>
          </a:p>
          <a:p>
            <a:r>
              <a:rPr lang="zh-CN" altLang="zh-CN" dirty="0"/>
              <a:t>再用 verifier 计算 reward。</a:t>
            </a:r>
          </a:p>
          <a:p>
            <a:r>
              <a:rPr lang="zh-CN" altLang="zh-CN" dirty="0"/>
              <a:t>这些 reward statistics 被 </a:t>
            </a:r>
            <a:r>
              <a:rPr lang="zh-CN" altLang="en-US" dirty="0"/>
              <a:t>记录</a:t>
            </a:r>
            <a:r>
              <a:rPr lang="zh-CN" altLang="zh-CN" dirty="0"/>
              <a:t>下来。</a:t>
            </a:r>
          </a:p>
          <a:p>
            <a:r>
              <a:rPr lang="zh-CN" altLang="zh-CN" dirty="0"/>
              <a:t>所以这一步是一次性的。</a:t>
            </a:r>
          </a:p>
          <a:p>
            <a:r>
              <a:rPr lang="zh-CN" altLang="zh-CN" dirty="0"/>
              <a:t>第二步，进入 online training。</a:t>
            </a:r>
          </a:p>
          <a:p>
            <a:r>
              <a:rPr lang="zh-CN" altLang="zh-CN" dirty="0"/>
              <a:t>每一个 training step，对于当前 batch 中的每个 prompt，我们只生成：</a:t>
            </a:r>
          </a:p>
          <a:p>
            <a:r>
              <a:rPr lang="zh-CN" altLang="zh-CN" b="1" dirty="0"/>
              <a:t>一个 rollout。</a:t>
            </a:r>
            <a:endParaRPr lang="zh-CN" altLang="zh-CN" dirty="0"/>
          </a:p>
          <a:p>
            <a:r>
              <a:rPr lang="zh-CN" altLang="zh-CN" dirty="0"/>
              <a:t>得到 current rewards 之后，我们同时从 offline cache 读取不同 (\beta) 下的 initial prompt values。</a:t>
            </a:r>
          </a:p>
          <a:p>
            <a:r>
              <a:rPr lang="zh-CN" altLang="zh-CN" dirty="0"/>
              <a:t>然后进行 online calibration，选择最适合当前 training stage 的 (\beta_t)。</a:t>
            </a:r>
          </a:p>
          <a:p>
            <a:r>
              <a:rPr lang="zh-CN" altLang="zh-CN" dirty="0"/>
              <a:t>接下来进入 batchwise refinement。</a:t>
            </a:r>
          </a:p>
          <a:p>
            <a:r>
              <a:rPr lang="zh-CN" altLang="zh-CN" dirty="0"/>
              <a:t>我们利用整个 batch 的 rewards，以及 prompt-specific initial values 和 variance estimates，得到这个 weight matrix。</a:t>
            </a:r>
          </a:p>
          <a:p>
            <a:r>
              <a:rPr lang="zh-CN" altLang="zh-CN" dirty="0"/>
              <a:t>注意这个 matrix 的 diagonal 是 0。</a:t>
            </a:r>
          </a:p>
          <a:p>
            <a:r>
              <a:rPr lang="zh-CN" altLang="zh-CN" dirty="0"/>
              <a:t>也就是说，自己不能帮助估计自己的 baseline。</a:t>
            </a:r>
          </a:p>
          <a:p>
            <a:r>
              <a:rPr lang="zh-CN" altLang="zh-CN" dirty="0"/>
              <a:t>然后对于每个 prompt：</a:t>
            </a:r>
          </a:p>
          <a:p>
            <a:r>
              <a:rPr lang="zh-CN" altLang="zh-CN" dirty="0"/>
              <a:t>\sum_{j\neq i}</a:t>
            </a:r>
            <a:br>
              <a:rPr lang="zh-CN" altLang="zh-CN" dirty="0"/>
            </a:br>
            <a:r>
              <a:rPr lang="zh-CN" altLang="zh-CN" dirty="0"/>
              <a:t>w_{ij}r_j.</a:t>
            </a:r>
            <a:br>
              <a:rPr lang="zh-CN" altLang="zh-CN" dirty="0"/>
            </a:br>
            <a:r>
              <a:rPr lang="zh-CN" altLang="zh-CN" dirty="0"/>
              <a:t>]</a:t>
            </a:r>
          </a:p>
          <a:p>
            <a:r>
              <a:rPr lang="zh-CN" altLang="zh-CN" dirty="0"/>
              <a:t>再得到 advantage：</a:t>
            </a:r>
          </a:p>
          <a:p>
            <a:r>
              <a:rPr lang="zh-CN" altLang="zh-CN" dirty="0"/>
              <a:t>r_i-\widetilde V_i.</a:t>
            </a:r>
            <a:br>
              <a:rPr lang="zh-CN" altLang="zh-CN" dirty="0"/>
            </a:br>
            <a:r>
              <a:rPr lang="zh-CN" altLang="zh-CN" dirty="0"/>
              <a:t>]</a:t>
            </a:r>
          </a:p>
          <a:p>
            <a:r>
              <a:rPr lang="zh-CN" altLang="zh-CN" dirty="0"/>
              <a:t>最后把 advantage plug into 原来的 policy optimization objective。</a:t>
            </a:r>
          </a:p>
          <a:p>
            <a:r>
              <a:rPr lang="zh-CN" altLang="zh-CN" dirty="0"/>
              <a:t>所以 BASIS 不是一个新的 PPO replacement，也不是说我们重新设计了所有东西。</a:t>
            </a:r>
          </a:p>
          <a:p>
            <a:r>
              <a:rPr lang="zh-CN" altLang="zh-CN" dirty="0"/>
              <a:t>它更准确的定位是：</a:t>
            </a:r>
          </a:p>
          <a:p>
            <a:r>
              <a:rPr lang="zh-CN" altLang="zh-CN" b="1" dirty="0"/>
              <a:t>一个 critic-free、single-rollout、可以 plug into 现有 RLVR objectives 的 advantage-estimation module。</a:t>
            </a:r>
            <a:endParaRPr lang="zh-CN" altLang="zh-CN" dirty="0"/>
          </a:p>
          <a:p>
            <a:r>
              <a:rPr lang="zh-CN" altLang="zh-CN" dirty="0"/>
              <a:t>论文的 algorithm 也正是由 offline value estimation、batchwise refinement 和 online calibration 三部分组成。</a:t>
            </a:r>
          </a:p>
          <a:p>
            <a:br>
              <a:rPr lang="zh-CN" altLang="zh-CN" dirty="0"/>
            </a:b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76718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接下来进入实验。</a:t>
            </a:r>
          </a:p>
          <a:p>
            <a:r>
              <a:rPr lang="zh-CN" altLang="zh-CN" dirty="0"/>
              <a:t>实验主要验证两件事情。</a:t>
            </a:r>
          </a:p>
          <a:p>
            <a:r>
              <a:rPr lang="zh-CN" altLang="zh-CN" dirty="0"/>
              <a:t>第一，BASIS 真的能不能得到一个更准确的 value estimator。</a:t>
            </a:r>
          </a:p>
          <a:p>
            <a:r>
              <a:rPr lang="zh-CN" altLang="zh-CN" dirty="0"/>
              <a:t>第二，如果 value 和 advantage estimation 更准确，它最终能不能真正改善 policy optimization。</a:t>
            </a:r>
          </a:p>
          <a:p>
            <a:r>
              <a:rPr lang="zh-CN" altLang="zh-CN" dirty="0"/>
              <a:t>这里可以简单理解成两个关键词：</a:t>
            </a:r>
          </a:p>
          <a:p>
            <a:r>
              <a:rPr lang="zh-CN" altLang="zh-CN" b="1" dirty="0"/>
              <a:t>lower variance</a:t>
            </a:r>
            <a:r>
              <a:rPr lang="zh-CN" altLang="zh-CN" dirty="0"/>
              <a:t>，</a:t>
            </a:r>
          </a:p>
          <a:p>
            <a:r>
              <a:rPr lang="zh-CN" altLang="zh-CN" dirty="0"/>
              <a:t>以及</a:t>
            </a:r>
          </a:p>
          <a:p>
            <a:r>
              <a:rPr lang="zh-CN" altLang="zh-CN" b="1" dirty="0"/>
              <a:t>better preservation of learning signal</a:t>
            </a:r>
            <a:r>
              <a:rPr lang="zh-CN" altLang="zh-CN" dirty="0"/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0547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这一页是我觉得整个论文最直接证明方法有效的一组实验。</a:t>
            </a:r>
          </a:p>
          <a:p>
            <a:r>
              <a:rPr lang="zh-CN" altLang="zh-CN" dirty="0"/>
              <a:t>首先解释一下这里 MSE 的 ground truth 是什么。</a:t>
            </a:r>
          </a:p>
          <a:p>
            <a:r>
              <a:rPr lang="zh-CN" altLang="zh-CN" dirty="0"/>
              <a:t>我们不是拿某个 learned critic 当 ground truth。</a:t>
            </a:r>
          </a:p>
          <a:p>
            <a:r>
              <a:rPr lang="zh-CN" altLang="zh-CN" dirty="0"/>
              <a:t>也不是拿 single observed reward 当 ground truth。</a:t>
            </a:r>
          </a:p>
          <a:p>
            <a:r>
              <a:rPr lang="zh-CN" altLang="zh-CN" dirty="0"/>
              <a:t>实验里先训练了一个 Qwen2.5-Math-7B GRPO model，然后拿一个 intermediate checkpoint。</a:t>
            </a:r>
          </a:p>
          <a:p>
            <a:r>
              <a:rPr lang="zh-CN" altLang="zh-CN" dirty="0"/>
              <a:t>对于每一个 prompt，额外生成 </a:t>
            </a:r>
            <a:r>
              <a:rPr lang="zh-CN" altLang="zh-CN" b="1" dirty="0"/>
              <a:t>256 个 independent Monte Carlo rollouts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然后用这 256 个 rewards 的平均值近似 oracle value：</a:t>
            </a:r>
          </a:p>
          <a:p>
            <a:r>
              <a:rPr lang="zh-CN" altLang="zh-CN" dirty="0"/>
              <a:t>先看左图。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1000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RLOO 和 GRPO 随着 (G) 从 1、2、4 到 8 增加，MSE 会不断下降。</a:t>
            </a:r>
          </a:p>
          <a:p>
            <a:r>
              <a:rPr lang="zh-CN" altLang="zh-CN" dirty="0"/>
              <a:t>这完全合理。</a:t>
            </a:r>
          </a:p>
          <a:p>
            <a:r>
              <a:rPr lang="zh-CN" altLang="zh-CN" dirty="0"/>
              <a:t>一个 prompt 多采几次，sample mean 就会更准。</a:t>
            </a:r>
          </a:p>
          <a:p>
            <a:r>
              <a:rPr lang="zh-CN" altLang="zh-CN" dirty="0"/>
              <a:t>但是 BASIS 最重要的结果是：</a:t>
            </a:r>
          </a:p>
          <a:p>
            <a:r>
              <a:rPr lang="zh-CN" altLang="zh-CN" b="1" dirty="0"/>
              <a:t>(G=1) 的 BASIS，MSE 已经低于 (G=8) 的 GRPO 和 RLOO。</a:t>
            </a:r>
            <a:endParaRPr lang="zh-CN" altLang="zh-CN" dirty="0"/>
          </a:p>
          <a:p>
            <a:r>
              <a:rPr lang="zh-CN" altLang="zh-CN" dirty="0"/>
              <a:t>而相对于 REINFORCE++，MSE 降低了 </a:t>
            </a:r>
            <a:r>
              <a:rPr lang="zh-CN" altLang="zh-CN" b="1" dirty="0"/>
              <a:t>69%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这就是我们说 batchwise information sharing sample-efficient 的直接证据。</a:t>
            </a:r>
          </a:p>
          <a:p>
            <a:r>
              <a:rPr lang="zh-CN" altLang="zh-CN" dirty="0"/>
              <a:t>与其对同一道题不断多采样，我们可以利用整个 batch 的其他信息。</a:t>
            </a:r>
          </a:p>
          <a:p>
            <a:r>
              <a:rPr lang="zh-CN" altLang="zh-CN" dirty="0"/>
              <a:t>再看右图。</a:t>
            </a:r>
          </a:p>
          <a:p>
            <a:r>
              <a:rPr lang="zh-CN" altLang="en-US" dirty="0"/>
              <a:t>这里测量的在</a:t>
            </a:r>
            <a:r>
              <a:rPr lang="en-US" altLang="zh-CN" dirty="0"/>
              <a:t>batch</a:t>
            </a:r>
            <a:r>
              <a:rPr lang="zh-CN" altLang="en-US" dirty="0"/>
              <a:t>中</a:t>
            </a:r>
            <a:r>
              <a:rPr lang="en-US" altLang="zh-CN" dirty="0"/>
              <a:t>prompt</a:t>
            </a:r>
            <a:r>
              <a:rPr lang="zh-CN" altLang="en-US" dirty="0"/>
              <a:t>不同对估计造成的影响，</a:t>
            </a:r>
            <a:r>
              <a:rPr lang="zh-CN" altLang="zh-CN" dirty="0"/>
              <a:t>换句话说，这个 batch 里面的问题 difficulty 有多不一样。</a:t>
            </a:r>
          </a:p>
          <a:p>
            <a:r>
              <a:rPr lang="zh-CN" altLang="zh-CN" dirty="0"/>
              <a:t>结果非常有意思。</a:t>
            </a:r>
          </a:p>
          <a:p>
            <a:r>
              <a:rPr lang="zh-CN" altLang="zh-CN" dirty="0"/>
              <a:t>当 heterogeneity 从大概 0.21 增加到 0.31 的时候，</a:t>
            </a:r>
          </a:p>
          <a:p>
            <a:r>
              <a:rPr lang="zh-CN" altLang="zh-CN" dirty="0"/>
              <a:t>REINFORCE++ 的 MSE 接近翻倍。</a:t>
            </a:r>
          </a:p>
          <a:p>
            <a:r>
              <a:rPr lang="zh-CN" altLang="zh-CN" dirty="0"/>
              <a:t>为什么？</a:t>
            </a:r>
          </a:p>
          <a:p>
            <a:r>
              <a:rPr lang="zh-CN" altLang="zh-CN" dirty="0"/>
              <a:t>因为一个 global batch mean 很难同时代表 easy 和 hard prompts。</a:t>
            </a:r>
          </a:p>
          <a:p>
            <a:r>
              <a:rPr lang="zh-CN" altLang="zh-CN" dirty="0"/>
              <a:t>batch 越 heterogeneous，这个问题越严重。</a:t>
            </a:r>
          </a:p>
          <a:p>
            <a:r>
              <a:rPr lang="zh-CN" altLang="zh-CN" dirty="0"/>
              <a:t>但是 BASIS 的 MSE 基本保持 flat。</a:t>
            </a:r>
          </a:p>
          <a:p>
            <a:r>
              <a:rPr lang="zh-CN" altLang="zh-CN" dirty="0"/>
              <a:t>说明它虽然利用 cross-prompt information，但并不是简单把所有 prompts 混在一起 average。</a:t>
            </a:r>
          </a:p>
          <a:p>
            <a:r>
              <a:rPr lang="zh-CN" altLang="zh-CN" dirty="0"/>
              <a:t>它利用 prompt-specific weights，保留了 individual prompt structure。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85612-B20F-E940-A344-371F12064447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5871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03296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Stats-Powered 思达AI">
            <a:extLst>
              <a:ext uri="{FF2B5EF4-FFF2-40B4-BE49-F238E27FC236}">
                <a16:creationId xmlns:a16="http://schemas.microsoft.com/office/drawing/2014/main" id="{B20FCADA-34DD-99EE-464A-90D27B33D0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00353" y="220141"/>
            <a:ext cx="936543" cy="430810"/>
          </a:xfrm>
          <a:prstGeom prst="rect">
            <a:avLst/>
          </a:prstGeom>
        </p:spPr>
      </p:pic>
      <p:pic>
        <p:nvPicPr>
          <p:cNvPr id="8" name="图片 7" descr="File:London school of economics logo with name.svg">
            <a:extLst>
              <a:ext uri="{FF2B5EF4-FFF2-40B4-BE49-F238E27FC236}">
                <a16:creationId xmlns:a16="http://schemas.microsoft.com/office/drawing/2014/main" id="{E9BCECFE-7EB9-1940-69E9-DCFAF55327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4501" y="232534"/>
            <a:ext cx="1180301" cy="40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06754" y="6402915"/>
            <a:ext cx="2133600" cy="365125"/>
          </a:xfrm>
        </p:spPr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648200" y="6419849"/>
            <a:ext cx="2895600" cy="365125"/>
          </a:xfrm>
        </p:spPr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79099" y="6435245"/>
            <a:ext cx="2133600" cy="365125"/>
          </a:xfrm>
        </p:spPr>
        <p:txBody>
          <a:bodyPr/>
          <a:lstStyle>
            <a:lvl1pPr>
              <a:defRPr>
                <a:solidFill>
                  <a:srgbClr val="8F8F8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>
              <a:solidFill>
                <a:srgbClr val="8F8F8F"/>
              </a:solidFill>
            </a:endParaRPr>
          </a:p>
        </p:txBody>
      </p:sp>
      <p:pic>
        <p:nvPicPr>
          <p:cNvPr id="7" name="图片 6" descr="Stats-Powered 思达AI">
            <a:extLst>
              <a:ext uri="{FF2B5EF4-FFF2-40B4-BE49-F238E27FC236}">
                <a16:creationId xmlns:a16="http://schemas.microsoft.com/office/drawing/2014/main" id="{FCCC3E5D-6FE3-EFF0-4E01-B67775DC2F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69600" y="290633"/>
            <a:ext cx="1103470" cy="507596"/>
          </a:xfrm>
          <a:prstGeom prst="rect">
            <a:avLst/>
          </a:prstGeom>
        </p:spPr>
      </p:pic>
      <p:pic>
        <p:nvPicPr>
          <p:cNvPr id="8" name="图片 7" descr="File:London school of economics logo with name.svg">
            <a:extLst>
              <a:ext uri="{FF2B5EF4-FFF2-40B4-BE49-F238E27FC236}">
                <a16:creationId xmlns:a16="http://schemas.microsoft.com/office/drawing/2014/main" id="{E3FED38E-57DA-43D3-6753-93CDD2394C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1790" y="325196"/>
            <a:ext cx="1274617" cy="43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10" Type="http://schemas.openxmlformats.org/officeDocument/2006/relationships/image" Target="../media/image8.jpeg"/><Relationship Id="rId4" Type="http://schemas.openxmlformats.org/officeDocument/2006/relationships/image" Target="../media/image1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21792" y="841248"/>
            <a:ext cx="1143000" cy="25603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6448"/>
            <a:ext cx="11704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RESEARCH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569302"/>
            <a:ext cx="576072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100" b="1">
                <a:solidFill>
                  <a:srgbClr val="161B21"/>
                </a:solidFill>
                <a:latin typeface="Aptos Display"/>
              </a:rPr>
              <a:t>BASIS:</a:t>
            </a:r>
            <a:endParaRPr sz="3100" b="1">
              <a:solidFill>
                <a:srgbClr val="161B21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9696" y="2122316"/>
            <a:ext cx="53492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b="1">
                <a:solidFill>
                  <a:srgbClr val="39414D"/>
                </a:solidFill>
                <a:latin typeface="Aptos"/>
              </a:rPr>
              <a:t>B</a:t>
            </a:r>
            <a:r>
              <a:rPr lang="en" sz="2400">
                <a:solidFill>
                  <a:srgbClr val="39414D"/>
                </a:solidFill>
                <a:latin typeface="Aptos"/>
              </a:rPr>
              <a:t>a</a:t>
            </a:r>
            <a:r>
              <a:rPr lang="en" sz="2800">
                <a:solidFill>
                  <a:srgbClr val="39414D"/>
                </a:solidFill>
                <a:latin typeface="Aptos"/>
              </a:rPr>
              <a:t>tchwise </a:t>
            </a:r>
            <a:r>
              <a:rPr lang="en" sz="3200" b="1">
                <a:solidFill>
                  <a:srgbClr val="39414D"/>
                </a:solidFill>
                <a:latin typeface="Aptos"/>
              </a:rPr>
              <a:t>A</a:t>
            </a:r>
            <a:r>
              <a:rPr lang="en" sz="2800">
                <a:solidFill>
                  <a:srgbClr val="39414D"/>
                </a:solidFill>
                <a:latin typeface="Aptos"/>
              </a:rPr>
              <a:t>dvantage Estimation from </a:t>
            </a:r>
            <a:r>
              <a:rPr lang="en" sz="3200" b="1">
                <a:solidFill>
                  <a:srgbClr val="39414D"/>
                </a:solidFill>
                <a:latin typeface="Aptos"/>
              </a:rPr>
              <a:t>S</a:t>
            </a:r>
            <a:r>
              <a:rPr lang="en" sz="2800">
                <a:solidFill>
                  <a:srgbClr val="39414D"/>
                </a:solidFill>
                <a:latin typeface="Aptos"/>
              </a:rPr>
              <a:t>ingle-Rollout </a:t>
            </a:r>
            <a:r>
              <a:rPr lang="en" sz="3200" b="1">
                <a:solidFill>
                  <a:srgbClr val="39414D"/>
                </a:solidFill>
                <a:latin typeface="Aptos"/>
              </a:rPr>
              <a:t>I</a:t>
            </a:r>
            <a:r>
              <a:rPr lang="en" sz="2800">
                <a:solidFill>
                  <a:srgbClr val="39414D"/>
                </a:solidFill>
                <a:latin typeface="Aptos"/>
              </a:rPr>
              <a:t>nformation </a:t>
            </a:r>
            <a:r>
              <a:rPr lang="en" sz="3200" b="1">
                <a:solidFill>
                  <a:srgbClr val="39414D"/>
                </a:solidFill>
                <a:latin typeface="Aptos"/>
              </a:rPr>
              <a:t>S</a:t>
            </a:r>
            <a:r>
              <a:rPr lang="en" sz="2800">
                <a:solidFill>
                  <a:srgbClr val="39414D"/>
                </a:solidFill>
                <a:latin typeface="Aptos"/>
              </a:rPr>
              <a:t>haring for LLM Reasoning</a:t>
            </a:r>
            <a:endParaRPr sz="2800" b="0">
              <a:solidFill>
                <a:srgbClr val="39414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3016" y="4706812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B21"/>
                </a:solidFill>
                <a:latin typeface="Aptos"/>
              </a:rPr>
              <a:t>Kai 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16" y="5191092"/>
            <a:ext cx="56163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>
                <a:solidFill>
                  <a:srgbClr val="6F7782"/>
                </a:solidFill>
                <a:latin typeface="Aptos"/>
              </a:rPr>
              <a:t>Department of Statistics</a:t>
            </a:r>
            <a:r>
              <a:rPr lang="en-US">
                <a:solidFill>
                  <a:srgbClr val="6F7782"/>
                </a:solidFill>
                <a:latin typeface="Aptos"/>
              </a:rPr>
              <a:t>, </a:t>
            </a:r>
            <a:r>
              <a:rPr lang="en" altLang="zh-CN">
                <a:solidFill>
                  <a:srgbClr val="6F7782"/>
                </a:solidFill>
                <a:latin typeface="Aptos"/>
              </a:rPr>
              <a:t>LSE &amp; </a:t>
            </a:r>
            <a:r>
              <a:rPr lang="en-US" altLang="zh-CN">
                <a:solidFill>
                  <a:srgbClr val="6F7782"/>
                </a:solidFill>
                <a:latin typeface="Aptos"/>
              </a:rPr>
              <a:t>Stats-Powered AI Lab</a:t>
            </a:r>
            <a:endParaRPr lang="en" altLang="zh-CN">
              <a:solidFill>
                <a:srgbClr val="6F7782"/>
              </a:solidFill>
              <a:latin typeface="Aptos"/>
            </a:endParaRPr>
          </a:p>
          <a:p>
            <a:pPr algn="l"/>
            <a:endParaRPr sz="1200" b="0">
              <a:solidFill>
                <a:srgbClr val="6F7782"/>
              </a:solidFill>
              <a:latin typeface="Apto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72F18E-43C9-BE61-0BCE-7CF9737CF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8" t="7775" b="6164"/>
          <a:stretch>
            <a:fillRect/>
          </a:stretch>
        </p:blipFill>
        <p:spPr>
          <a:xfrm>
            <a:off x="6194289" y="0"/>
            <a:ext cx="5997711" cy="6637867"/>
          </a:xfrm>
          <a:prstGeom prst="rect">
            <a:avLst/>
          </a:prstGeom>
        </p:spPr>
      </p:pic>
      <p:pic>
        <p:nvPicPr>
          <p:cNvPr id="2" name="图片 1" descr="Stats-Powered 思达AI">
            <a:extLst>
              <a:ext uri="{FF2B5EF4-FFF2-40B4-BE49-F238E27FC236}">
                <a16:creationId xmlns:a16="http://schemas.microsoft.com/office/drawing/2014/main" id="{847A4D21-B149-57DC-403A-AA4F76D6D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015" y="73537"/>
            <a:ext cx="1450385" cy="667177"/>
          </a:xfrm>
          <a:prstGeom prst="rect">
            <a:avLst/>
          </a:prstGeom>
        </p:spPr>
      </p:pic>
      <p:pic>
        <p:nvPicPr>
          <p:cNvPr id="11" name="图片 10" descr="File:London school of economics logo with name.svg">
            <a:extLst>
              <a:ext uri="{FF2B5EF4-FFF2-40B4-BE49-F238E27FC236}">
                <a16:creationId xmlns:a16="http://schemas.microsoft.com/office/drawing/2014/main" id="{6A305C03-AAF9-FD48-BC7F-630C15C8B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23" y="90622"/>
            <a:ext cx="1587500" cy="5461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4981099-E3F1-D626-8132-B7ADD26AC2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760" t="29510" r="17763" b="40469"/>
          <a:stretch>
            <a:fillRect/>
          </a:stretch>
        </p:blipFill>
        <p:spPr>
          <a:xfrm>
            <a:off x="6251420" y="1372037"/>
            <a:ext cx="1043709" cy="105785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F403E25-B73D-045B-AD0F-F2A48D37216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73" t="34796" r="58089" b="37600"/>
          <a:stretch>
            <a:fillRect/>
          </a:stretch>
        </p:blipFill>
        <p:spPr>
          <a:xfrm>
            <a:off x="6251359" y="305105"/>
            <a:ext cx="1043709" cy="1038420"/>
          </a:xfrm>
          <a:prstGeom prst="rect">
            <a:avLst/>
          </a:prstGeom>
        </p:spPr>
      </p:pic>
      <p:pic>
        <p:nvPicPr>
          <p:cNvPr id="22" name="Picture 27">
            <a:extLst>
              <a:ext uri="{FF2B5EF4-FFF2-40B4-BE49-F238E27FC236}">
                <a16:creationId xmlns:a16="http://schemas.microsoft.com/office/drawing/2014/main" id="{466954B3-A5F1-7115-3B19-FB7AF5AFD3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1420" y="2523545"/>
            <a:ext cx="1043710" cy="1043710"/>
          </a:xfrm>
          <a:prstGeom prst="rect">
            <a:avLst/>
          </a:prstGeom>
        </p:spPr>
      </p:pic>
      <p:pic>
        <p:nvPicPr>
          <p:cNvPr id="23" name="Picture 13" descr="A person sitting at a desk with a computer and thumbs up&#10;&#10;AI-generated content may be incorrect.">
            <a:extLst>
              <a:ext uri="{FF2B5EF4-FFF2-40B4-BE49-F238E27FC236}">
                <a16:creationId xmlns:a16="http://schemas.microsoft.com/office/drawing/2014/main" id="{441C6F58-1BB3-A641-B27F-864131E464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1420" y="4723745"/>
            <a:ext cx="1059720" cy="103827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23BAFC01-A9E4-EECC-2F91-2A689F36DBD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88" t="14063" r="-788" b="19617"/>
          <a:stretch>
            <a:fillRect/>
          </a:stretch>
        </p:blipFill>
        <p:spPr>
          <a:xfrm>
            <a:off x="6251420" y="3617259"/>
            <a:ext cx="1043710" cy="1038277"/>
          </a:xfrm>
          <a:prstGeom prst="rect">
            <a:avLst/>
          </a:prstGeom>
        </p:spPr>
      </p:pic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F341FB-FC54-124C-C2C9-D7669C668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1E2CAD-BAD0-5204-1950-B0AF89CA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BFE3A1BD-78E2-36F8-B9AD-43C555A4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2030" y="384048"/>
            <a:ext cx="777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39" y="694071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61B21"/>
                </a:solidFill>
                <a:latin typeface="Aptos Display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3481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39" y="1371600"/>
            <a:ext cx="4854633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414D"/>
                </a:solidFill>
                <a:latin typeface="Aptos"/>
              </a:rPr>
              <a:t>This talk is organized around </a:t>
            </a:r>
            <a:r>
              <a:rPr lang="en-US" altLang="zh-CN" sz="1700">
                <a:solidFill>
                  <a:srgbClr val="39414D"/>
                </a:solidFill>
                <a:latin typeface="Aptos"/>
              </a:rPr>
              <a:t>four</a:t>
            </a:r>
            <a:r>
              <a:rPr sz="1700" b="0">
                <a:solidFill>
                  <a:srgbClr val="39414D"/>
                </a:solidFill>
                <a:latin typeface="Aptos"/>
              </a:rPr>
              <a:t> questions.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F996CF76-6D28-7C54-8235-E3E5376291A8}"/>
              </a:ext>
            </a:extLst>
          </p:cNvPr>
          <p:cNvGrpSpPr/>
          <p:nvPr/>
        </p:nvGrpSpPr>
        <p:grpSpPr>
          <a:xfrm>
            <a:off x="621792" y="1965959"/>
            <a:ext cx="5577840" cy="569232"/>
            <a:chOff x="621792" y="1965959"/>
            <a:chExt cx="5577840" cy="569232"/>
          </a:xfrm>
        </p:grpSpPr>
        <p:sp>
          <p:nvSpPr>
            <p:cNvPr id="9" name="Rounded Rectangle 8"/>
            <p:cNvSpPr/>
            <p:nvPr/>
          </p:nvSpPr>
          <p:spPr>
            <a:xfrm>
              <a:off x="621792" y="1965959"/>
              <a:ext cx="5577840" cy="569232"/>
            </a:xfrm>
            <a:prstGeom prst="roundRect">
              <a:avLst/>
            </a:prstGeom>
            <a:solidFill>
              <a:srgbClr val="F7ECE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1228" y="2010014"/>
              <a:ext cx="37490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CC2529"/>
                  </a:solidFill>
                  <a:latin typeface="Aptos"/>
                </a:rPr>
                <a:t>01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25880" y="2076391"/>
              <a:ext cx="40040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>
                  <a:solidFill>
                    <a:srgbClr val="161B21"/>
                  </a:solidFill>
                  <a:latin typeface="Aptos"/>
                </a:rPr>
                <a:t>What is the optimization problem?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BD23445-CA40-2308-C24F-037B3DE336B5}"/>
              </a:ext>
            </a:extLst>
          </p:cNvPr>
          <p:cNvGrpSpPr/>
          <p:nvPr/>
        </p:nvGrpSpPr>
        <p:grpSpPr>
          <a:xfrm>
            <a:off x="621792" y="2967271"/>
            <a:ext cx="5577840" cy="562113"/>
            <a:chOff x="621792" y="2933420"/>
            <a:chExt cx="5577840" cy="562113"/>
          </a:xfrm>
        </p:grpSpPr>
        <p:sp>
          <p:nvSpPr>
            <p:cNvPr id="12" name="Rounded Rectangle 11"/>
            <p:cNvSpPr/>
            <p:nvPr/>
          </p:nvSpPr>
          <p:spPr>
            <a:xfrm>
              <a:off x="621792" y="2933420"/>
              <a:ext cx="5577840" cy="562113"/>
            </a:xfrm>
            <a:prstGeom prst="roundRect">
              <a:avLst/>
            </a:prstGeom>
            <a:solidFill>
              <a:srgbClr val="ECF2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5661" y="2953181"/>
              <a:ext cx="4572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2D5AA5"/>
                  </a:solidFill>
                  <a:latin typeface="Aptos"/>
                </a:rPr>
                <a:t>02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25880" y="3030102"/>
              <a:ext cx="4481154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sz="1700" b="0">
                  <a:solidFill>
                    <a:srgbClr val="161B21"/>
                  </a:solidFill>
                  <a:latin typeface="Aptos"/>
                </a:rPr>
                <a:t>What</a:t>
              </a:r>
              <a:r>
                <a:rPr lang="zh-CN" altLang="en-US" sz="1700" b="0">
                  <a:solidFill>
                    <a:srgbClr val="161B21"/>
                  </a:solidFill>
                  <a:latin typeface="Aptos"/>
                </a:rPr>
                <a:t> </a:t>
              </a:r>
              <a:r>
                <a:rPr lang="en-US" altLang="zh-CN" sz="1700" b="0">
                  <a:solidFill>
                    <a:srgbClr val="161B21"/>
                  </a:solidFill>
                  <a:latin typeface="Aptos"/>
                </a:rPr>
                <a:t>is</a:t>
              </a:r>
              <a:r>
                <a:rPr lang="zh-CN" altLang="en-US" sz="1700" b="0">
                  <a:solidFill>
                    <a:srgbClr val="161B21"/>
                  </a:solidFill>
                  <a:latin typeface="Aptos"/>
                </a:rPr>
                <a:t> </a:t>
              </a:r>
              <a:r>
                <a:rPr lang="en-US" altLang="zh-CN" sz="1700" b="0">
                  <a:solidFill>
                    <a:srgbClr val="161B21"/>
                  </a:solidFill>
                  <a:latin typeface="Aptos"/>
                </a:rPr>
                <a:t>the</a:t>
              </a:r>
              <a:r>
                <a:rPr lang="zh-CN" altLang="en-US" sz="1700" b="0">
                  <a:solidFill>
                    <a:srgbClr val="161B21"/>
                  </a:solidFill>
                  <a:latin typeface="Aptos"/>
                </a:rPr>
                <a:t> </a:t>
              </a:r>
              <a:r>
                <a:rPr lang="en-US" altLang="zh-CN" sz="1700" b="0">
                  <a:solidFill>
                    <a:srgbClr val="161B21"/>
                  </a:solidFill>
                  <a:latin typeface="Aptos"/>
                </a:rPr>
                <a:t>drawback</a:t>
              </a:r>
              <a:r>
                <a:rPr lang="zh-CN" altLang="en-US" sz="1700" b="0">
                  <a:solidFill>
                    <a:srgbClr val="161B21"/>
                  </a:solidFill>
                  <a:latin typeface="Aptos"/>
                </a:rPr>
                <a:t> </a:t>
              </a:r>
              <a:r>
                <a:rPr lang="en-US" altLang="zh-CN" sz="1700" b="0">
                  <a:solidFill>
                    <a:srgbClr val="161B21"/>
                  </a:solidFill>
                  <a:latin typeface="Aptos"/>
                </a:rPr>
                <a:t>of</a:t>
              </a:r>
              <a:r>
                <a:rPr lang="zh-CN" altLang="en-US" sz="1700" b="0">
                  <a:solidFill>
                    <a:srgbClr val="161B21"/>
                  </a:solidFill>
                  <a:latin typeface="Aptos"/>
                </a:rPr>
                <a:t> </a:t>
              </a:r>
              <a:r>
                <a:rPr lang="en-US" altLang="zh-CN" sz="1700" b="0">
                  <a:solidFill>
                    <a:srgbClr val="161B21"/>
                  </a:solidFill>
                  <a:latin typeface="Aptos"/>
                </a:rPr>
                <a:t>PPO</a:t>
              </a:r>
              <a:r>
                <a:rPr lang="zh-CN" altLang="en-US" sz="1700" b="0">
                  <a:solidFill>
                    <a:srgbClr val="161B21"/>
                  </a:solidFill>
                  <a:latin typeface="Aptos"/>
                </a:rPr>
                <a:t> </a:t>
              </a:r>
              <a:r>
                <a:rPr lang="en-US" altLang="zh-CN" sz="1700" b="0">
                  <a:solidFill>
                    <a:srgbClr val="161B21"/>
                  </a:solidFill>
                  <a:latin typeface="Aptos"/>
                </a:rPr>
                <a:t>and</a:t>
              </a:r>
              <a:r>
                <a:rPr lang="zh-CN" altLang="en-US" sz="1700" b="0">
                  <a:solidFill>
                    <a:srgbClr val="161B21"/>
                  </a:solidFill>
                  <a:latin typeface="Aptos"/>
                </a:rPr>
                <a:t> </a:t>
              </a:r>
              <a:r>
                <a:rPr lang="en-US" altLang="zh-CN" sz="1700" b="0">
                  <a:solidFill>
                    <a:srgbClr val="161B21"/>
                  </a:solidFill>
                  <a:latin typeface="Aptos"/>
                </a:rPr>
                <a:t>GRPO</a:t>
              </a:r>
              <a:endParaRPr sz="1700" b="0">
                <a:solidFill>
                  <a:srgbClr val="161B21"/>
                </a:solidFill>
                <a:latin typeface="Aptos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EB4D08B-0D6A-16F6-A80C-EE99BAB4EA96}"/>
              </a:ext>
            </a:extLst>
          </p:cNvPr>
          <p:cNvGrpSpPr/>
          <p:nvPr/>
        </p:nvGrpSpPr>
        <p:grpSpPr>
          <a:xfrm>
            <a:off x="621792" y="3961464"/>
            <a:ext cx="5577840" cy="569232"/>
            <a:chOff x="621792" y="3944539"/>
            <a:chExt cx="5577840" cy="569232"/>
          </a:xfrm>
        </p:grpSpPr>
        <p:sp>
          <p:nvSpPr>
            <p:cNvPr id="15" name="Rounded Rectangle 14"/>
            <p:cNvSpPr/>
            <p:nvPr/>
          </p:nvSpPr>
          <p:spPr>
            <a:xfrm>
              <a:off x="621792" y="3944539"/>
              <a:ext cx="5577840" cy="569232"/>
            </a:xfrm>
            <a:prstGeom prst="roundRect">
              <a:avLst/>
            </a:prstGeom>
            <a:solidFill>
              <a:srgbClr val="F0EC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1228" y="4011201"/>
              <a:ext cx="4114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715199"/>
                  </a:solidFill>
                  <a:latin typeface="Aptos"/>
                </a:rPr>
                <a:t>03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25880" y="4061329"/>
              <a:ext cx="460752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>
                  <a:solidFill>
                    <a:srgbClr val="161B21"/>
                  </a:solidFill>
                  <a:latin typeface="Aptos"/>
                </a:rPr>
                <a:t>What exactly is </a:t>
              </a:r>
              <a:r>
                <a:rPr lang="en-US" sz="1700" b="0">
                  <a:solidFill>
                    <a:srgbClr val="161B21"/>
                  </a:solidFill>
                  <a:latin typeface="Aptos"/>
                </a:rPr>
                <a:t>BASIS</a:t>
              </a:r>
              <a:r>
                <a:rPr sz="1700" b="0">
                  <a:solidFill>
                    <a:srgbClr val="161B21"/>
                  </a:solidFill>
                  <a:latin typeface="Aptos"/>
                </a:rPr>
                <a:t>?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DD49D01-576D-A4F3-7060-3776D84136C3}"/>
              </a:ext>
            </a:extLst>
          </p:cNvPr>
          <p:cNvGrpSpPr/>
          <p:nvPr/>
        </p:nvGrpSpPr>
        <p:grpSpPr>
          <a:xfrm>
            <a:off x="621792" y="4962777"/>
            <a:ext cx="5577840" cy="569232"/>
            <a:chOff x="621792" y="4962777"/>
            <a:chExt cx="5577840" cy="569232"/>
          </a:xfrm>
        </p:grpSpPr>
        <p:sp>
          <p:nvSpPr>
            <p:cNvPr id="18" name="Rounded Rectangle 17"/>
            <p:cNvSpPr/>
            <p:nvPr/>
          </p:nvSpPr>
          <p:spPr>
            <a:xfrm>
              <a:off x="621792" y="4962777"/>
              <a:ext cx="5577840" cy="569232"/>
            </a:xfrm>
            <a:prstGeom prst="roundRect">
              <a:avLst/>
            </a:prstGeom>
            <a:solidFill>
              <a:srgbClr val="F7ECE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5661" y="4995031"/>
              <a:ext cx="46895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CC2529"/>
                  </a:solidFill>
                  <a:latin typeface="Aptos"/>
                </a:rPr>
                <a:t>04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25880" y="5063816"/>
              <a:ext cx="397763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600"/>
                <a:t>How </a:t>
              </a:r>
              <a:r>
                <a:rPr lang="en-US" altLang="zh-CN" sz="1600"/>
                <a:t>d</a:t>
              </a:r>
              <a:r>
                <a:rPr lang="zh-CN" altLang="zh-CN" sz="1600"/>
                <a:t>oes BASIS </a:t>
              </a:r>
              <a:r>
                <a:rPr lang="en-US" altLang="zh-CN" sz="1600"/>
                <a:t>p</a:t>
              </a:r>
              <a:r>
                <a:rPr lang="zh-CN" altLang="zh-CN" sz="1600"/>
                <a:t>erform?</a:t>
              </a:r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7360920" y="1645920"/>
            <a:ext cx="3977639" cy="4343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78802" y="1932619"/>
            <a:ext cx="3522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C2529"/>
                </a:solidFill>
                <a:latin typeface="Aptos"/>
              </a:rPr>
              <a:t>The central </a:t>
            </a:r>
            <a:r>
              <a:rPr lang="en-US" sz="2000" b="1">
                <a:solidFill>
                  <a:srgbClr val="CC2529"/>
                </a:solidFill>
                <a:latin typeface="Aptos"/>
              </a:rPr>
              <a:t>advantage</a:t>
            </a:r>
            <a:r>
              <a:rPr lang="zh-CN" altLang="en-US" sz="2000" b="1">
                <a:solidFill>
                  <a:srgbClr val="CC2529"/>
                </a:solidFill>
                <a:latin typeface="Aptos"/>
              </a:rPr>
              <a:t> </a:t>
            </a:r>
            <a:r>
              <a:rPr lang="en-US" altLang="zh-CN" sz="2000" b="1">
                <a:solidFill>
                  <a:srgbClr val="CC2529"/>
                </a:solidFill>
                <a:latin typeface="Aptos"/>
              </a:rPr>
              <a:t>of</a:t>
            </a:r>
            <a:r>
              <a:rPr lang="zh-CN" altLang="en-US" sz="2000" b="1">
                <a:solidFill>
                  <a:srgbClr val="CC2529"/>
                </a:solidFill>
                <a:latin typeface="Aptos"/>
              </a:rPr>
              <a:t> </a:t>
            </a:r>
            <a:r>
              <a:rPr lang="en-US" altLang="zh-CN" sz="2000" b="1">
                <a:solidFill>
                  <a:srgbClr val="CC2529"/>
                </a:solidFill>
                <a:latin typeface="Aptos"/>
              </a:rPr>
              <a:t>BASIS</a:t>
            </a:r>
            <a:endParaRPr sz="2000" b="1">
              <a:solidFill>
                <a:srgbClr val="CC2529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66661" y="2621587"/>
            <a:ext cx="3703319" cy="2585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39414D"/>
                </a:solidFill>
                <a:latin typeface="Aptos"/>
              </a:rPr>
              <a:t>No value model needed</a:t>
            </a:r>
          </a:p>
          <a:p>
            <a:pPr lvl="1"/>
            <a:r>
              <a:rPr lang="en-US" sz="1600">
                <a:solidFill>
                  <a:srgbClr val="39414D"/>
                </a:solidFill>
                <a:latin typeface="Aptos"/>
              </a:rPr>
              <a:t>Better than PPO</a:t>
            </a:r>
          </a:p>
          <a:p>
            <a:pPr lvl="1"/>
            <a:endParaRPr lang="en-US" b="0">
              <a:solidFill>
                <a:srgbClr val="39414D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39414D"/>
                </a:solidFill>
                <a:latin typeface="Aptos"/>
              </a:rPr>
              <a:t>Works with A Single Sample</a:t>
            </a:r>
          </a:p>
          <a:p>
            <a:pPr lvl="1"/>
            <a:r>
              <a:rPr lang="en-US" sz="1600">
                <a:solidFill>
                  <a:srgbClr val="39414D"/>
                </a:solidFill>
                <a:latin typeface="Aptos"/>
              </a:rPr>
              <a:t>Better than GRPO</a:t>
            </a:r>
          </a:p>
          <a:p>
            <a:pPr lvl="1"/>
            <a:endParaRPr lang="en-US">
              <a:solidFill>
                <a:srgbClr val="39414D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>
                <a:solidFill>
                  <a:srgbClr val="39414D"/>
                </a:solidFill>
                <a:latin typeface="Aptos"/>
              </a:rPr>
              <a:t>Share</a:t>
            </a:r>
            <a:r>
              <a:rPr lang="en-US">
                <a:solidFill>
                  <a:srgbClr val="39414D"/>
                </a:solidFill>
                <a:latin typeface="Aptos"/>
              </a:rPr>
              <a:t>s inter-query information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>
              <a:solidFill>
                <a:srgbClr val="39414D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>
                <a:solidFill>
                  <a:srgbClr val="39414D"/>
                </a:solidFill>
                <a:latin typeface="Aptos"/>
              </a:rPr>
              <a:t>Lower baseline variance</a:t>
            </a:r>
            <a:endParaRPr b="0">
              <a:solidFill>
                <a:srgbClr val="39414D"/>
              </a:solidFill>
              <a:latin typeface="Aptos"/>
            </a:endParaRPr>
          </a:p>
        </p:txBody>
      </p:sp>
      <p:sp>
        <p:nvSpPr>
          <p:cNvPr id="34" name="日期占位符 33">
            <a:extLst>
              <a:ext uri="{FF2B5EF4-FFF2-40B4-BE49-F238E27FC236}">
                <a16:creationId xmlns:a16="http://schemas.microsoft.com/office/drawing/2014/main" id="{95CBA790-2DF2-0D3F-1EBF-2802B5BE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35" name="页脚占位符 34">
            <a:extLst>
              <a:ext uri="{FF2B5EF4-FFF2-40B4-BE49-F238E27FC236}">
                <a16:creationId xmlns:a16="http://schemas.microsoft.com/office/drawing/2014/main" id="{02579FD3-6BCA-9F5E-5437-AD037209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36" name="灯片编号占位符 35">
            <a:extLst>
              <a:ext uri="{FF2B5EF4-FFF2-40B4-BE49-F238E27FC236}">
                <a16:creationId xmlns:a16="http://schemas.microsoft.com/office/drawing/2014/main" id="{52149A93-526F-3A12-FED1-F830935F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0D3B-18E1-9F6D-BC02-2B6848C0E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13B762D-D7D8-DC08-D448-E89EBC2D51D2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725B0-FB49-F391-B41D-3125E6D1B4DC}"/>
              </a:ext>
            </a:extLst>
          </p:cNvPr>
          <p:cNvSpPr txBox="1"/>
          <p:nvPr/>
        </p:nvSpPr>
        <p:spPr>
          <a:xfrm>
            <a:off x="622030" y="384048"/>
            <a:ext cx="777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9AB5D-60A4-A09B-056B-120341ADE47B}"/>
              </a:ext>
            </a:extLst>
          </p:cNvPr>
          <p:cNvSpPr txBox="1"/>
          <p:nvPr/>
        </p:nvSpPr>
        <p:spPr>
          <a:xfrm>
            <a:off x="548640" y="841248"/>
            <a:ext cx="80467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500" b="1">
                <a:solidFill>
                  <a:srgbClr val="161B21"/>
                </a:solidFill>
                <a:latin typeface="Aptos Display"/>
              </a:rPr>
              <a:t>Background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30FDD-9D8D-6AD5-719F-42B80569D3CA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">
            <a:extLst>
              <a:ext uri="{FF2B5EF4-FFF2-40B4-BE49-F238E27FC236}">
                <a16:creationId xmlns:a16="http://schemas.microsoft.com/office/drawing/2014/main" id="{198FDE5F-14C5-7DF7-2AEC-F6248E5AA596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">
            <a:extLst>
              <a:ext uri="{FF2B5EF4-FFF2-40B4-BE49-F238E27FC236}">
                <a16:creationId xmlns:a16="http://schemas.microsoft.com/office/drawing/2014/main" id="{3190104F-B8A1-A7AB-DB75-886C71CFFEA3}"/>
              </a:ext>
            </a:extLst>
          </p:cNvPr>
          <p:cNvSpPr txBox="1"/>
          <p:nvPr/>
        </p:nvSpPr>
        <p:spPr>
          <a:xfrm>
            <a:off x="475488" y="395532"/>
            <a:ext cx="11064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p:sp>
        <p:nvSpPr>
          <p:cNvPr id="87" name="TextBox 7">
            <a:extLst>
              <a:ext uri="{FF2B5EF4-FFF2-40B4-BE49-F238E27FC236}">
                <a16:creationId xmlns:a16="http://schemas.microsoft.com/office/drawing/2014/main" id="{633930D1-9D17-5278-E70C-4D8A0F477F99}"/>
              </a:ext>
            </a:extLst>
          </p:cNvPr>
          <p:cNvSpPr txBox="1"/>
          <p:nvPr/>
        </p:nvSpPr>
        <p:spPr>
          <a:xfrm>
            <a:off x="548640" y="1312164"/>
            <a:ext cx="8046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solidFill>
                  <a:srgbClr val="39414D"/>
                </a:solidFill>
                <a:latin typeface="Aptos"/>
              </a:rPr>
              <a:t>Large Language Model reasoning</a:t>
            </a:r>
            <a:r>
              <a:rPr lang="zh-CN" altLang="en-US" dirty="0">
                <a:solidFill>
                  <a:srgbClr val="39414D"/>
                </a:solidFill>
                <a:latin typeface="Aptos"/>
              </a:rPr>
              <a:t> </a:t>
            </a:r>
            <a:r>
              <a:rPr lang="en-US" altLang="zh-CN" dirty="0">
                <a:solidFill>
                  <a:srgbClr val="39414D"/>
                </a:solidFill>
                <a:latin typeface="Aptos"/>
              </a:rPr>
              <a:t>and</a:t>
            </a:r>
            <a:r>
              <a:rPr lang="zh-CN" altLang="en-US" dirty="0">
                <a:solidFill>
                  <a:srgbClr val="39414D"/>
                </a:solidFill>
                <a:latin typeface="Aptos"/>
              </a:rPr>
              <a:t> </a:t>
            </a:r>
            <a:r>
              <a:rPr lang="en-US" altLang="zh-CN" dirty="0">
                <a:solidFill>
                  <a:srgbClr val="39414D"/>
                </a:solidFill>
                <a:latin typeface="Aptos"/>
              </a:rPr>
              <a:t>training</a:t>
            </a:r>
            <a:endParaRPr lang="en-GB" altLang="zh-CN" dirty="0">
              <a:solidFill>
                <a:srgbClr val="39414D"/>
              </a:solidFill>
              <a:latin typeface="Aptos"/>
            </a:endParaRP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D3BE3428-713C-4905-326C-F88EC589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C6B253A9-8DD7-CA4D-D3DF-D4D9EA3E2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31B49E50-E871-5E92-94CE-956CBB48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>
              <a:solidFill>
                <a:srgbClr val="8F8F8F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638088-37D7-5E4A-89A6-9667B19E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12" y="1769364"/>
            <a:ext cx="10388856" cy="458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70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7508" y="411839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80467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500" b="1">
                <a:solidFill>
                  <a:srgbClr val="161B21"/>
                </a:solidFill>
                <a:latin typeface="Aptos Display"/>
              </a:rPr>
              <a:t>Background</a:t>
            </a:r>
            <a:endParaRPr sz="2500" b="1">
              <a:solidFill>
                <a:srgbClr val="161B21"/>
              </a:solidFill>
              <a:latin typeface="Aptos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11070"/>
            <a:ext cx="8046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dirty="0">
                <a:solidFill>
                  <a:srgbClr val="39414D"/>
                </a:solidFill>
                <a:latin typeface="Aptos"/>
              </a:rPr>
              <a:t>Large</a:t>
            </a:r>
            <a:r>
              <a:rPr lang="zh-CN" altLang="en-US" sz="1800" b="0" dirty="0">
                <a:solidFill>
                  <a:srgbClr val="39414D"/>
                </a:solidFill>
                <a:latin typeface="Aptos"/>
              </a:rPr>
              <a:t> </a:t>
            </a:r>
            <a:r>
              <a:rPr lang="en-US" altLang="zh-CN" sz="1800" b="0" dirty="0">
                <a:solidFill>
                  <a:srgbClr val="39414D"/>
                </a:solidFill>
                <a:latin typeface="Aptos"/>
              </a:rPr>
              <a:t>Language</a:t>
            </a:r>
            <a:r>
              <a:rPr lang="zh-CN" altLang="en-US" sz="1800" b="0" dirty="0">
                <a:solidFill>
                  <a:srgbClr val="39414D"/>
                </a:solidFill>
                <a:latin typeface="Aptos"/>
              </a:rPr>
              <a:t> </a:t>
            </a:r>
            <a:r>
              <a:rPr lang="en-US" altLang="zh-CN" sz="1800" b="0" dirty="0">
                <a:solidFill>
                  <a:srgbClr val="39414D"/>
                </a:solidFill>
                <a:latin typeface="Aptos"/>
              </a:rPr>
              <a:t>Model</a:t>
            </a:r>
            <a:r>
              <a:rPr lang="zh-CN" altLang="en-US" sz="1800" b="0" dirty="0">
                <a:solidFill>
                  <a:srgbClr val="39414D"/>
                </a:solidFill>
                <a:latin typeface="Aptos"/>
              </a:rPr>
              <a:t> </a:t>
            </a:r>
            <a:r>
              <a:rPr lang="en-US" altLang="zh-CN" sz="1800" b="0" dirty="0">
                <a:solidFill>
                  <a:srgbClr val="39414D"/>
                </a:solidFill>
                <a:latin typeface="Aptos"/>
              </a:rPr>
              <a:t>reasoning</a:t>
            </a:r>
            <a:endParaRPr sz="1800" b="0" dirty="0">
              <a:solidFill>
                <a:srgbClr val="39414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29284" y="5118746"/>
            <a:ext cx="1600200" cy="868680"/>
          </a:xfrm>
          <a:prstGeom prst="roundRect">
            <a:avLst/>
          </a:prstGeom>
          <a:solidFill>
            <a:srgbClr val="F7ECEC"/>
          </a:solidFill>
          <a:ln w="12700">
            <a:solidFill>
              <a:srgbClr val="F7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75588" y="522847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B21"/>
                </a:solidFill>
                <a:latin typeface="Aptos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5588" y="5511938"/>
            <a:ext cx="1325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7782"/>
                </a:solidFill>
                <a:latin typeface="Aptos"/>
              </a:rPr>
              <a:t>x ∼ 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29484" y="5548514"/>
            <a:ext cx="338328" cy="0"/>
          </a:xfrm>
          <a:prstGeom prst="line">
            <a:avLst/>
          </a:prstGeom>
          <a:ln w="2794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86684" y="5118746"/>
            <a:ext cx="1600200" cy="868680"/>
          </a:xfrm>
          <a:prstGeom prst="roundRect">
            <a:avLst/>
          </a:prstGeom>
          <a:solidFill>
            <a:srgbClr val="ECF2FA"/>
          </a:solidFill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2988" y="522847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B21"/>
                </a:solidFill>
                <a:latin typeface="Aptos"/>
              </a:rPr>
              <a:t>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2988" y="5511938"/>
            <a:ext cx="132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7782"/>
                </a:solidFill>
                <a:latin typeface="Aptos"/>
              </a:rPr>
              <a:t>π</a:t>
            </a:r>
            <a:r>
              <a:rPr sz="1400" b="0" err="1">
                <a:solidFill>
                  <a:srgbClr val="6F7782"/>
                </a:solidFill>
                <a:latin typeface="Aptos"/>
              </a:rPr>
              <a:t>θ</a:t>
            </a:r>
            <a:r>
              <a:rPr sz="1400" b="0">
                <a:solidFill>
                  <a:srgbClr val="6F7782"/>
                </a:solidFill>
                <a:latin typeface="Aptos"/>
              </a:rPr>
              <a:t>(·|x)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86884" y="5548514"/>
            <a:ext cx="338328" cy="0"/>
          </a:xfrm>
          <a:prstGeom prst="line">
            <a:avLst/>
          </a:prstGeom>
          <a:ln w="2794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44084" y="5118746"/>
            <a:ext cx="1600200" cy="8686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0388" y="5228474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>
                <a:solidFill>
                  <a:srgbClr val="161B21"/>
                </a:solidFill>
                <a:latin typeface="Aptos"/>
              </a:rPr>
              <a:t>Reasoning</a:t>
            </a:r>
            <a:endParaRPr sz="1600" b="1">
              <a:solidFill>
                <a:srgbClr val="161B2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90388" y="5511938"/>
            <a:ext cx="132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>
                <a:solidFill>
                  <a:srgbClr val="6F7782"/>
                </a:solidFill>
                <a:latin typeface="Aptos"/>
              </a:rPr>
              <a:t>c</a:t>
            </a:r>
            <a:endParaRPr sz="1400" b="0">
              <a:solidFill>
                <a:srgbClr val="6F7782"/>
              </a:solidFill>
              <a:latin typeface="Aptos"/>
            </a:endParaRPr>
          </a:p>
        </p:txBody>
      </p:sp>
      <p:sp>
        <p:nvSpPr>
          <p:cNvPr id="27" name="Rectangle: Rounded Corners 1291">
            <a:extLst>
              <a:ext uri="{FF2B5EF4-FFF2-40B4-BE49-F238E27FC236}">
                <a16:creationId xmlns:a16="http://schemas.microsoft.com/office/drawing/2014/main" id="{E074988F-0933-0179-0924-2A01A242A745}"/>
              </a:ext>
            </a:extLst>
          </p:cNvPr>
          <p:cNvSpPr/>
          <p:nvPr/>
        </p:nvSpPr>
        <p:spPr>
          <a:xfrm>
            <a:off x="3381844" y="1867873"/>
            <a:ext cx="5880206" cy="2676223"/>
          </a:xfrm>
          <a:prstGeom prst="roundRect">
            <a:avLst>
              <a:gd name="adj" fmla="val 7474"/>
            </a:avLst>
          </a:prstGeom>
          <a:solidFill>
            <a:schemeClr val="accent6">
              <a:lumMod val="20000"/>
              <a:lumOff val="80000"/>
            </a:schemeClr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b="1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Step 1 analysis: 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To solve ….“Half the value of 3x - 9 is x + 37” means: (1/2)(3x - 9) = x + 37</a:t>
            </a:r>
          </a:p>
          <a:p>
            <a:r>
              <a:rPr lang="en-GB" b="1" dirty="0">
                <a:solidFill>
                  <a:schemeClr val="tx1"/>
                </a:solidFill>
              </a:rPr>
              <a:t>Step 2 calculation: </a:t>
            </a:r>
            <a:r>
              <a:rPr lang="en-GB" dirty="0">
                <a:solidFill>
                  <a:schemeClr val="tx1"/>
                </a:solidFill>
              </a:rPr>
              <a:t>To eliminate … 2:3x - 9 = 2(x + 37)</a:t>
            </a:r>
          </a:p>
          <a:p>
            <a:r>
              <a:rPr lang="en-GB" dirty="0">
                <a:solidFill>
                  <a:schemeClr val="tx1"/>
                </a:solidFill>
              </a:rPr>
              <a:t>Next, we distribute … 3x - 9 = 2x + 74. Now, we … x - 9 = 74</a:t>
            </a:r>
          </a:p>
          <a:p>
            <a:r>
              <a:rPr lang="en-GB" dirty="0">
                <a:solidFill>
                  <a:schemeClr val="tx1"/>
                </a:solidFill>
              </a:rPr>
              <a:t>Finally, we add … x = 83</a:t>
            </a:r>
          </a:p>
          <a:p>
            <a:r>
              <a:rPr lang="en-GB" b="1" dirty="0">
                <a:solidFill>
                  <a:schemeClr val="tx1"/>
                </a:solidFill>
              </a:rPr>
              <a:t>Step 3 verification: </a:t>
            </a:r>
            <a:r>
              <a:rPr lang="en-GB" dirty="0">
                <a:solidFill>
                  <a:schemeClr val="tx1"/>
                </a:solidFill>
              </a:rPr>
              <a:t>Let's verify … x = 83 … the left side … right side …120, confirming that our solution is correct. </a:t>
            </a:r>
            <a:endParaRPr lang="en-GB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: Rounded Corners 1294">
            <a:extLst>
              <a:ext uri="{FF2B5EF4-FFF2-40B4-BE49-F238E27FC236}">
                <a16:creationId xmlns:a16="http://schemas.microsoft.com/office/drawing/2014/main" id="{E57B5ADD-FE1A-E621-A86B-FC9DF84F146D}"/>
              </a:ext>
            </a:extLst>
          </p:cNvPr>
          <p:cNvSpPr/>
          <p:nvPr/>
        </p:nvSpPr>
        <p:spPr>
          <a:xfrm>
            <a:off x="9973349" y="2592053"/>
            <a:ext cx="2131392" cy="109595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Final Answer: </a:t>
            </a:r>
            <a:r>
              <a:rPr lang="en-GB">
                <a:solidFill>
                  <a:schemeClr val="tx1"/>
                </a:solidFill>
                <a:latin typeface="+mj-lt"/>
              </a:rPr>
              <a:t>Therefore, the value of x is 83.</a:t>
            </a:r>
            <a:endParaRPr lang="en-GB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: Rounded Corners 1295">
            <a:extLst>
              <a:ext uri="{FF2B5EF4-FFF2-40B4-BE49-F238E27FC236}">
                <a16:creationId xmlns:a16="http://schemas.microsoft.com/office/drawing/2014/main" id="{C3286651-F95F-993D-4C83-8BE18661C63E}"/>
              </a:ext>
            </a:extLst>
          </p:cNvPr>
          <p:cNvSpPr/>
          <p:nvPr/>
        </p:nvSpPr>
        <p:spPr>
          <a:xfrm>
            <a:off x="79776" y="2548392"/>
            <a:ext cx="2374981" cy="1296144"/>
          </a:xfrm>
          <a:prstGeom prst="roundRect">
            <a:avLst/>
          </a:prstGeom>
          <a:solidFill>
            <a:srgbClr val="F7ECEC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Question: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+mj-lt"/>
              </a:rPr>
              <a:t>Half the value of 3x-9 is x+37. What is the value of x?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026737-DFC0-675F-7A2A-741AD9EE7343}"/>
              </a:ext>
            </a:extLst>
          </p:cNvPr>
          <p:cNvCxnSpPr>
            <a:cxnSpLocks/>
          </p:cNvCxnSpPr>
          <p:nvPr/>
        </p:nvCxnSpPr>
        <p:spPr>
          <a:xfrm>
            <a:off x="2539629" y="3173486"/>
            <a:ext cx="757343" cy="0"/>
          </a:xfrm>
          <a:prstGeom prst="straightConnector1">
            <a:avLst/>
          </a:prstGeom>
          <a:ln w="539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6197F18-C4A8-0202-A893-0C70E539A5C9}"/>
              </a:ext>
            </a:extLst>
          </p:cNvPr>
          <p:cNvCxnSpPr>
            <a:cxnSpLocks/>
          </p:cNvCxnSpPr>
          <p:nvPr/>
        </p:nvCxnSpPr>
        <p:spPr>
          <a:xfrm>
            <a:off x="9380147" y="3173486"/>
            <a:ext cx="566237" cy="0"/>
          </a:xfrm>
          <a:prstGeom prst="straightConnector1">
            <a:avLst/>
          </a:prstGeom>
          <a:ln w="539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1316">
            <a:extLst>
              <a:ext uri="{FF2B5EF4-FFF2-40B4-BE49-F238E27FC236}">
                <a16:creationId xmlns:a16="http://schemas.microsoft.com/office/drawing/2014/main" id="{77FF04F4-B631-FB7F-E0AE-E8BE3AE50395}"/>
              </a:ext>
            </a:extLst>
          </p:cNvPr>
          <p:cNvSpPr/>
          <p:nvPr/>
        </p:nvSpPr>
        <p:spPr>
          <a:xfrm>
            <a:off x="79776" y="2498878"/>
            <a:ext cx="2378544" cy="429230"/>
          </a:xfrm>
          <a:prstGeom prst="roundRect">
            <a:avLst>
              <a:gd name="adj" fmla="val 0"/>
            </a:avLst>
          </a:prstGeom>
          <a:solidFill>
            <a:srgbClr val="EA6B66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/>
              <a:t>Prompt</a:t>
            </a:r>
          </a:p>
        </p:txBody>
      </p:sp>
      <p:sp>
        <p:nvSpPr>
          <p:cNvPr id="33" name="Rectangle: Rounded Corners 1317">
            <a:extLst>
              <a:ext uri="{FF2B5EF4-FFF2-40B4-BE49-F238E27FC236}">
                <a16:creationId xmlns:a16="http://schemas.microsoft.com/office/drawing/2014/main" id="{F34DC6CE-B7AF-3A89-28AF-4AA616C84E0C}"/>
              </a:ext>
            </a:extLst>
          </p:cNvPr>
          <p:cNvSpPr/>
          <p:nvPr/>
        </p:nvSpPr>
        <p:spPr>
          <a:xfrm>
            <a:off x="3381844" y="1794655"/>
            <a:ext cx="5887246" cy="42923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/>
              <a:t>Reasoning Steps</a:t>
            </a:r>
          </a:p>
        </p:txBody>
      </p:sp>
      <p:sp>
        <p:nvSpPr>
          <p:cNvPr id="34" name="Rectangle: Rounded Corners 1318">
            <a:extLst>
              <a:ext uri="{FF2B5EF4-FFF2-40B4-BE49-F238E27FC236}">
                <a16:creationId xmlns:a16="http://schemas.microsoft.com/office/drawing/2014/main" id="{16E14C84-C1FD-2AE9-91A5-6C8F678C76C2}"/>
              </a:ext>
            </a:extLst>
          </p:cNvPr>
          <p:cNvSpPr/>
          <p:nvPr/>
        </p:nvSpPr>
        <p:spPr>
          <a:xfrm>
            <a:off x="9969781" y="2548392"/>
            <a:ext cx="2134060" cy="429230"/>
          </a:xfrm>
          <a:prstGeom prst="roundRect">
            <a:avLst>
              <a:gd name="adj" fmla="val 0"/>
            </a:avLst>
          </a:prstGeom>
          <a:solidFill>
            <a:schemeClr val="tx2">
              <a:lumMod val="50000"/>
              <a:lumOff val="50000"/>
            </a:schemeClr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/>
              <a:t>Final Answer</a:t>
            </a:r>
          </a:p>
        </p:txBody>
      </p:sp>
      <p:cxnSp>
        <p:nvCxnSpPr>
          <p:cNvPr id="36" name="Connector 15">
            <a:extLst>
              <a:ext uri="{FF2B5EF4-FFF2-40B4-BE49-F238E27FC236}">
                <a16:creationId xmlns:a16="http://schemas.microsoft.com/office/drawing/2014/main" id="{BAC5C918-5AC8-4FE1-BB25-EA8B80F9103B}"/>
              </a:ext>
            </a:extLst>
          </p:cNvPr>
          <p:cNvCxnSpPr/>
          <p:nvPr/>
        </p:nvCxnSpPr>
        <p:spPr>
          <a:xfrm>
            <a:off x="6787180" y="5534338"/>
            <a:ext cx="338328" cy="0"/>
          </a:xfrm>
          <a:prstGeom prst="line">
            <a:avLst/>
          </a:prstGeom>
          <a:ln w="2794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735684D-3E1B-0836-33B0-7042583CFF28}"/>
              </a:ext>
            </a:extLst>
          </p:cNvPr>
          <p:cNvSpPr/>
          <p:nvPr/>
        </p:nvSpPr>
        <p:spPr>
          <a:xfrm>
            <a:off x="7244380" y="5104570"/>
            <a:ext cx="1600200" cy="868680"/>
          </a:xfrm>
          <a:prstGeom prst="roundRect">
            <a:avLst/>
          </a:prstGeom>
          <a:solidFill>
            <a:srgbClr val="E3ECF8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D1A471-BB17-2204-2C6F-F0F89B44377B}"/>
              </a:ext>
            </a:extLst>
          </p:cNvPr>
          <p:cNvSpPr txBox="1"/>
          <p:nvPr/>
        </p:nvSpPr>
        <p:spPr>
          <a:xfrm>
            <a:off x="7390684" y="5214298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>
                <a:solidFill>
                  <a:srgbClr val="161B21"/>
                </a:solidFill>
                <a:latin typeface="Aptos"/>
              </a:rPr>
              <a:t>Answer</a:t>
            </a:r>
            <a:endParaRPr sz="1600" b="1">
              <a:solidFill>
                <a:srgbClr val="161B21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5F172E-605E-3836-8A13-C526DDA529E1}"/>
              </a:ext>
            </a:extLst>
          </p:cNvPr>
          <p:cNvSpPr txBox="1"/>
          <p:nvPr/>
        </p:nvSpPr>
        <p:spPr>
          <a:xfrm>
            <a:off x="7390684" y="5497762"/>
            <a:ext cx="132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b="0">
                <a:solidFill>
                  <a:srgbClr val="6F7782"/>
                </a:solidFill>
                <a:latin typeface="Aptos"/>
              </a:rPr>
              <a:t>y</a:t>
            </a:r>
            <a:endParaRPr sz="1400" b="0">
              <a:solidFill>
                <a:srgbClr val="6F7782"/>
              </a:solidFill>
              <a:latin typeface="Aptos"/>
            </a:endParaRPr>
          </a:p>
        </p:txBody>
      </p:sp>
      <p:cxnSp>
        <p:nvCxnSpPr>
          <p:cNvPr id="40" name="Connector 15">
            <a:extLst>
              <a:ext uri="{FF2B5EF4-FFF2-40B4-BE49-F238E27FC236}">
                <a16:creationId xmlns:a16="http://schemas.microsoft.com/office/drawing/2014/main" id="{B789E97F-2D57-F1F3-6736-F7FB7EBBB16D}"/>
              </a:ext>
            </a:extLst>
          </p:cNvPr>
          <p:cNvCxnSpPr/>
          <p:nvPr/>
        </p:nvCxnSpPr>
        <p:spPr>
          <a:xfrm>
            <a:off x="8844578" y="5540243"/>
            <a:ext cx="338328" cy="0"/>
          </a:xfrm>
          <a:prstGeom prst="line">
            <a:avLst/>
          </a:prstGeom>
          <a:ln w="2794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49539DF-4175-9287-71A2-1CFA9CCC2F54}"/>
              </a:ext>
            </a:extLst>
          </p:cNvPr>
          <p:cNvSpPr/>
          <p:nvPr/>
        </p:nvSpPr>
        <p:spPr>
          <a:xfrm>
            <a:off x="9301778" y="5110475"/>
            <a:ext cx="1600200" cy="868680"/>
          </a:xfrm>
          <a:prstGeom prst="roundRect">
            <a:avLst/>
          </a:prstGeom>
          <a:solidFill>
            <a:srgbClr val="F0ECF7"/>
          </a:solidFill>
          <a:ln w="12700">
            <a:solidFill>
              <a:srgbClr val="F0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4F168A-06A3-D447-5743-29D7FCCBEBF1}"/>
              </a:ext>
            </a:extLst>
          </p:cNvPr>
          <p:cNvSpPr txBox="1"/>
          <p:nvPr/>
        </p:nvSpPr>
        <p:spPr>
          <a:xfrm>
            <a:off x="9448082" y="5220203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B21"/>
                </a:solidFill>
                <a:latin typeface="Aptos"/>
              </a:rPr>
              <a:t>Reward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1715CD-85DE-B381-C91D-2B71B53EE8DC}"/>
              </a:ext>
            </a:extLst>
          </p:cNvPr>
          <p:cNvSpPr txBox="1"/>
          <p:nvPr/>
        </p:nvSpPr>
        <p:spPr>
          <a:xfrm>
            <a:off x="9448082" y="5503667"/>
            <a:ext cx="1325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7782"/>
                </a:solidFill>
                <a:latin typeface="Aptos"/>
              </a:rPr>
              <a:t>r(</a:t>
            </a:r>
            <a:r>
              <a:rPr sz="1400" b="0" err="1">
                <a:solidFill>
                  <a:srgbClr val="6F7782"/>
                </a:solidFill>
                <a:latin typeface="Aptos"/>
              </a:rPr>
              <a:t>x,y</a:t>
            </a:r>
            <a:r>
              <a:rPr sz="1400" b="0">
                <a:solidFill>
                  <a:srgbClr val="6F7782"/>
                </a:solidFill>
                <a:latin typeface="Aptos"/>
              </a:rPr>
              <a:t>)</a:t>
            </a:r>
          </a:p>
        </p:txBody>
      </p:sp>
      <p:sp>
        <p:nvSpPr>
          <p:cNvPr id="23" name="日期占位符 22">
            <a:extLst>
              <a:ext uri="{FF2B5EF4-FFF2-40B4-BE49-F238E27FC236}">
                <a16:creationId xmlns:a16="http://schemas.microsoft.com/office/drawing/2014/main" id="{36EB3231-8D7C-299C-EC49-99AF8C8B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24" name="页脚占位符 23">
            <a:extLst>
              <a:ext uri="{FF2B5EF4-FFF2-40B4-BE49-F238E27FC236}">
                <a16:creationId xmlns:a16="http://schemas.microsoft.com/office/drawing/2014/main" id="{07FFB2CD-7984-7D6E-20F7-86FF5D02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F0C625DF-48A5-7FC2-E8F2-838168D75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E9713-82DA-88F0-D0FE-AAC63C70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B08312C-43E2-4E45-EA6B-4A3AD89D7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498" y="1411070"/>
            <a:ext cx="8632691" cy="5272138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2090BB-8051-BA71-8C84-87AF6B747D81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4F262-C41C-BC57-DDF6-50D1A7913CCA}"/>
              </a:ext>
            </a:extLst>
          </p:cNvPr>
          <p:cNvSpPr txBox="1"/>
          <p:nvPr/>
        </p:nvSpPr>
        <p:spPr>
          <a:xfrm>
            <a:off x="622030" y="384048"/>
            <a:ext cx="777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80C17-B9ED-D121-C92D-1161AA54D5CD}"/>
              </a:ext>
            </a:extLst>
          </p:cNvPr>
          <p:cNvSpPr txBox="1"/>
          <p:nvPr/>
        </p:nvSpPr>
        <p:spPr>
          <a:xfrm>
            <a:off x="548640" y="841248"/>
            <a:ext cx="80467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500" b="1">
                <a:solidFill>
                  <a:srgbClr val="161B21"/>
                </a:solidFill>
                <a:latin typeface="Aptos Display"/>
              </a:rPr>
              <a:t>Background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4BE7BE-76CF-CCF5-D651-7F49ABC8CF76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">
            <a:extLst>
              <a:ext uri="{FF2B5EF4-FFF2-40B4-BE49-F238E27FC236}">
                <a16:creationId xmlns:a16="http://schemas.microsoft.com/office/drawing/2014/main" id="{FE306C10-AB2B-DB64-F125-C82FD6BB0955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">
            <a:extLst>
              <a:ext uri="{FF2B5EF4-FFF2-40B4-BE49-F238E27FC236}">
                <a16:creationId xmlns:a16="http://schemas.microsoft.com/office/drawing/2014/main" id="{FA913342-6F73-0E7F-4D99-4D996B710005}"/>
              </a:ext>
            </a:extLst>
          </p:cNvPr>
          <p:cNvSpPr txBox="1"/>
          <p:nvPr/>
        </p:nvSpPr>
        <p:spPr>
          <a:xfrm>
            <a:off x="475488" y="395532"/>
            <a:ext cx="11064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p:sp>
        <p:nvSpPr>
          <p:cNvPr id="87" name="TextBox 7">
            <a:extLst>
              <a:ext uri="{FF2B5EF4-FFF2-40B4-BE49-F238E27FC236}">
                <a16:creationId xmlns:a16="http://schemas.microsoft.com/office/drawing/2014/main" id="{FB5B7A33-5E7A-9186-3961-0A2DF7C2727A}"/>
              </a:ext>
            </a:extLst>
          </p:cNvPr>
          <p:cNvSpPr txBox="1"/>
          <p:nvPr/>
        </p:nvSpPr>
        <p:spPr>
          <a:xfrm>
            <a:off x="566928" y="1411070"/>
            <a:ext cx="8046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solidFill>
                  <a:srgbClr val="39414D"/>
                </a:solidFill>
                <a:latin typeface="Aptos"/>
              </a:rPr>
              <a:t>Reinforcement Learning</a:t>
            </a:r>
            <a:endParaRPr lang="zh-CN" altLang="en-US" dirty="0">
              <a:solidFill>
                <a:srgbClr val="39414D"/>
              </a:solidFill>
              <a:latin typeface="Aptos"/>
            </a:endParaRP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F0309095-7D59-9CC3-3070-798C1110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658EE746-FFCD-8958-0749-C0C33EBA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D1473F8-9FA2-C6F4-B264-C79F456B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5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916F-AC4B-5D3B-6BDD-9DD7002C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AFAA572-8D69-7431-2E41-803B0AE9127D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125FF-9B35-F900-69AB-DB1DEED264B7}"/>
              </a:ext>
            </a:extLst>
          </p:cNvPr>
          <p:cNvSpPr txBox="1"/>
          <p:nvPr/>
        </p:nvSpPr>
        <p:spPr>
          <a:xfrm>
            <a:off x="541650" y="411839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359C8-1E6B-B994-9AD4-2D12CF66B99D}"/>
              </a:ext>
            </a:extLst>
          </p:cNvPr>
          <p:cNvSpPr txBox="1"/>
          <p:nvPr/>
        </p:nvSpPr>
        <p:spPr>
          <a:xfrm>
            <a:off x="548640" y="841248"/>
            <a:ext cx="80467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500" b="1">
                <a:solidFill>
                  <a:srgbClr val="161B21"/>
                </a:solidFill>
                <a:latin typeface="Aptos Display"/>
              </a:rPr>
              <a:t>Baseline</a:t>
            </a:r>
            <a:r>
              <a:rPr lang="zh-CN" altLang="en-US" sz="2500" b="1">
                <a:solidFill>
                  <a:srgbClr val="161B21"/>
                </a:solidFill>
                <a:latin typeface="Aptos Display"/>
              </a:rPr>
              <a:t> </a:t>
            </a:r>
            <a:r>
              <a:rPr lang="en-US" altLang="zh-CN" sz="2500" b="1">
                <a:solidFill>
                  <a:srgbClr val="161B21"/>
                </a:solidFill>
                <a:latin typeface="Aptos Display"/>
              </a:rPr>
              <a:t>1</a:t>
            </a:r>
            <a:endParaRPr sz="2500" b="1">
              <a:solidFill>
                <a:srgbClr val="161B21"/>
              </a:solidFill>
              <a:latin typeface="Aptos Display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CB813F-D0FB-AED3-2039-48441A045262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5EA292E-98CC-4657-9EDA-BB75E8851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50" y="1987911"/>
            <a:ext cx="7772400" cy="3365369"/>
          </a:xfrm>
          <a:prstGeom prst="rect">
            <a:avLst/>
          </a:prstGeom>
        </p:spPr>
      </p:pic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EE9526F-56B1-39C4-E034-9AF9B9308F09}"/>
              </a:ext>
            </a:extLst>
          </p:cNvPr>
          <p:cNvSpPr/>
          <p:nvPr/>
        </p:nvSpPr>
        <p:spPr>
          <a:xfrm>
            <a:off x="8595360" y="1546902"/>
            <a:ext cx="3054990" cy="4095599"/>
          </a:xfrm>
          <a:prstGeom prst="roundRect">
            <a:avLst/>
          </a:prstGeom>
          <a:solidFill>
            <a:srgbClr val="F7ECEC"/>
          </a:solidFill>
          <a:ln w="12700">
            <a:solidFill>
              <a:srgbClr val="F7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3862CD-5BE3-651C-5FBD-6B0B859810AA}"/>
              </a:ext>
            </a:extLst>
          </p:cNvPr>
          <p:cNvSpPr txBox="1"/>
          <p:nvPr/>
        </p:nvSpPr>
        <p:spPr>
          <a:xfrm>
            <a:off x="8785400" y="1735430"/>
            <a:ext cx="2644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Gradient</a:t>
            </a:r>
            <a:r>
              <a:rPr lang="zh-CN" altLang="en-US" sz="2000" b="1">
                <a:solidFill>
                  <a:srgbClr val="FF0000"/>
                </a:solidFill>
              </a:rPr>
              <a:t> </a:t>
            </a:r>
            <a:r>
              <a:rPr lang="en-US" sz="2000" b="1">
                <a:solidFill>
                  <a:srgbClr val="FF0000"/>
                </a:solidFill>
              </a:rPr>
              <a:t>high variance</a:t>
            </a:r>
            <a:r>
              <a:rPr lang="zh-CN" altLang="en-US" sz="2000" b="1">
                <a:solidFill>
                  <a:srgbClr val="FF0000"/>
                </a:solidFill>
              </a:rPr>
              <a:t>！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F8A763-F2B2-4EDB-D329-107258FAA72F}"/>
              </a:ext>
            </a:extLst>
          </p:cNvPr>
          <p:cNvSpPr txBox="1"/>
          <p:nvPr/>
        </p:nvSpPr>
        <p:spPr>
          <a:xfrm>
            <a:off x="8785401" y="2172577"/>
            <a:ext cx="26445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Possible</a:t>
            </a:r>
            <a:r>
              <a:rPr lang="zh-CN" altLang="en-US"/>
              <a:t> </a:t>
            </a:r>
            <a:r>
              <a:rPr lang="en-US" altLang="zh-CN"/>
              <a:t>solution</a:t>
            </a:r>
            <a:r>
              <a:rPr lang="zh-CN" altLang="en-US"/>
              <a:t>：</a:t>
            </a:r>
            <a:r>
              <a:rPr lang="en-US"/>
              <a:t>Subtract a baseline term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function</a:t>
            </a:r>
            <a:r>
              <a:rPr lang="zh-CN" altLang="en-US"/>
              <a:t> </a:t>
            </a:r>
            <a:r>
              <a:rPr lang="en-US"/>
              <a:t>of</a:t>
            </a:r>
            <a:r>
              <a:rPr lang="zh-CN" altLang="en-US"/>
              <a:t> </a:t>
            </a:r>
            <a:r>
              <a:rPr lang="en-US"/>
              <a:t>random variable 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Conditionally independent of Y and R given 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Unbiased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Reduce the variance of the estimator</a:t>
            </a:r>
          </a:p>
          <a:p>
            <a:endParaRPr lang="en-US"/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2F2F9FEB-051B-C128-B7FE-713D8F6B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00F27A04-EAF2-D1FC-B131-696E531F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9119B3DC-9535-BADD-527D-E5CA88CD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855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F6864-54C9-688F-EE6A-D5DC2DCE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C03B410-D053-FE3D-BA72-C21375FDF764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6D54A-235E-CBA2-CC2A-3943A1BDE8D3}"/>
              </a:ext>
            </a:extLst>
          </p:cNvPr>
          <p:cNvSpPr txBox="1"/>
          <p:nvPr/>
        </p:nvSpPr>
        <p:spPr>
          <a:xfrm>
            <a:off x="523721" y="411839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A9EC6-081D-4A68-573D-FEE213E4E48A}"/>
              </a:ext>
            </a:extLst>
          </p:cNvPr>
          <p:cNvSpPr txBox="1"/>
          <p:nvPr/>
        </p:nvSpPr>
        <p:spPr>
          <a:xfrm>
            <a:off x="548640" y="841248"/>
            <a:ext cx="80467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b="1">
                <a:solidFill>
                  <a:srgbClr val="161B21"/>
                </a:solidFill>
                <a:latin typeface="Aptos Display"/>
              </a:rPr>
              <a:t>Baseline</a:t>
            </a:r>
            <a:r>
              <a:rPr lang="en-GB" altLang="zh-CN" sz="2500" b="1">
                <a:solidFill>
                  <a:srgbClr val="161B21"/>
                </a:solidFill>
                <a:latin typeface="Aptos Display"/>
              </a:rPr>
              <a:t> </a:t>
            </a:r>
            <a:r>
              <a:rPr lang="en-US" altLang="zh-CN" sz="2500" b="1">
                <a:solidFill>
                  <a:srgbClr val="161B21"/>
                </a:solidFill>
                <a:latin typeface="Aptos Display"/>
              </a:rPr>
              <a:t>2</a:t>
            </a:r>
            <a:endParaRPr lang="en-GB" sz="2500" b="1">
              <a:solidFill>
                <a:srgbClr val="161B21"/>
              </a:solidFill>
              <a:latin typeface="Aptos Display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87C22-50F0-A87F-87BF-31798D30B54A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51A723-B475-7A92-3126-31CA16BF7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1182"/>
            <a:ext cx="10972800" cy="3555911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A1A49A-F3D1-E686-77FF-5981B35295E1}"/>
              </a:ext>
            </a:extLst>
          </p:cNvPr>
          <p:cNvSpPr/>
          <p:nvPr/>
        </p:nvSpPr>
        <p:spPr>
          <a:xfrm>
            <a:off x="2402419" y="5438581"/>
            <a:ext cx="2425333" cy="93425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7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One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sample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needed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DE16EDB-5DF1-81F4-05B8-1798A063B3CE}"/>
              </a:ext>
            </a:extLst>
          </p:cNvPr>
          <p:cNvSpPr/>
          <p:nvPr/>
        </p:nvSpPr>
        <p:spPr>
          <a:xfrm>
            <a:off x="7579212" y="5413501"/>
            <a:ext cx="2425333" cy="93425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7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GB">
                <a:solidFill>
                  <a:schemeClr val="tx1"/>
                </a:solidFill>
              </a:rPr>
              <a:t>separate value model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needed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DE30DCD-F2ED-0EED-D41C-BAD034D08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744" y="4945313"/>
            <a:ext cx="797349" cy="7973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64114D-B341-970B-7C6A-2676BB5B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308090">
            <a:off x="7210668" y="5166634"/>
            <a:ext cx="737088" cy="737088"/>
          </a:xfrm>
          <a:prstGeom prst="rect">
            <a:avLst/>
          </a:prstGeom>
        </p:spPr>
      </p:pic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8021004B-BF23-FDC6-09CB-F26BD28B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7AFC14E7-5CEA-F3A8-5BFC-9C2268186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006F45F0-9570-A04A-4BDA-90598A5C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740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F4F6D-7379-906B-928F-98AECD6A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ADA246-15EF-8BCD-E00D-EE02ACCB5DAF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8CA7D-DC5F-41BD-A53C-349684602F4B}"/>
              </a:ext>
            </a:extLst>
          </p:cNvPr>
          <p:cNvSpPr txBox="1"/>
          <p:nvPr/>
        </p:nvSpPr>
        <p:spPr>
          <a:xfrm>
            <a:off x="541650" y="39391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5BFDF-E72F-B059-637B-41E89D4949C4}"/>
              </a:ext>
            </a:extLst>
          </p:cNvPr>
          <p:cNvSpPr txBox="1"/>
          <p:nvPr/>
        </p:nvSpPr>
        <p:spPr>
          <a:xfrm>
            <a:off x="548640" y="841248"/>
            <a:ext cx="80467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b="1">
                <a:solidFill>
                  <a:srgbClr val="161B21"/>
                </a:solidFill>
                <a:latin typeface="Aptos Display"/>
              </a:rPr>
              <a:t>Baseline</a:t>
            </a:r>
            <a:r>
              <a:rPr lang="en-GB" altLang="zh-CN" sz="2500" b="1">
                <a:solidFill>
                  <a:srgbClr val="161B21"/>
                </a:solidFill>
                <a:latin typeface="Aptos Display"/>
              </a:rPr>
              <a:t> </a:t>
            </a:r>
            <a:r>
              <a:rPr lang="en-US" altLang="zh-CN" sz="2500" b="1">
                <a:solidFill>
                  <a:srgbClr val="161B21"/>
                </a:solidFill>
                <a:latin typeface="Aptos Display"/>
              </a:rPr>
              <a:t>3</a:t>
            </a:r>
            <a:endParaRPr lang="en-GB" sz="2500" b="1">
              <a:solidFill>
                <a:srgbClr val="161B21"/>
              </a:solidFill>
              <a:latin typeface="Aptos Display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A1C57-CC7D-2F2C-7455-043CAA61A3B6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6953FB2-D754-A40C-9CC5-F8F1E6FF9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" y="1542689"/>
            <a:ext cx="11923059" cy="336872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42E566-0205-9687-F3B7-01BCC1359F19}"/>
              </a:ext>
            </a:extLst>
          </p:cNvPr>
          <p:cNvSpPr/>
          <p:nvPr/>
        </p:nvSpPr>
        <p:spPr>
          <a:xfrm>
            <a:off x="2209772" y="5364461"/>
            <a:ext cx="2054191" cy="93425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7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No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GB">
                <a:solidFill>
                  <a:schemeClr val="tx1"/>
                </a:solidFill>
              </a:rPr>
              <a:t>separate value model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needed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B4E9B7-D005-089C-2E92-4E14D109D411}"/>
              </a:ext>
            </a:extLst>
          </p:cNvPr>
          <p:cNvSpPr/>
          <p:nvPr/>
        </p:nvSpPr>
        <p:spPr>
          <a:xfrm>
            <a:off x="7559413" y="5364461"/>
            <a:ext cx="2425333" cy="93425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7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group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of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sample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needed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390AEC7-23CB-E7B9-595B-8C6819AD9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224" y="4777397"/>
            <a:ext cx="843096" cy="8430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FB8DB1B-FF90-BE38-C347-80693DC39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6259">
            <a:off x="7137864" y="5055739"/>
            <a:ext cx="843097" cy="843097"/>
          </a:xfrm>
          <a:prstGeom prst="rect">
            <a:avLst/>
          </a:prstGeom>
        </p:spPr>
      </p:pic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9DED8561-C071-8D37-F962-0DA065EC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5EB71991-F6B6-C35C-2010-41B3E7DB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39CB54F-44F3-19A6-AFB0-261DB93D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3740" y="398360"/>
            <a:ext cx="1449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61B21"/>
                </a:solidFill>
                <a:latin typeface="Aptos Display"/>
              </a:rPr>
              <a:t>PPO versus GRPO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088622"/>
              </p:ext>
            </p:extLst>
          </p:nvPr>
        </p:nvGraphicFramePr>
        <p:xfrm>
          <a:off x="548639" y="1554480"/>
          <a:ext cx="6274191" cy="4201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7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6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0417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61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Value model</a:t>
                      </a:r>
                    </a:p>
                  </a:txBody>
                  <a:tcPr>
                    <a:solidFill>
                      <a:srgbClr val="161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Needs G&gt;1</a:t>
                      </a:r>
                    </a:p>
                  </a:txBody>
                  <a:tcPr>
                    <a:solidFill>
                      <a:srgbClr val="161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Cross-prompt info</a:t>
                      </a:r>
                    </a:p>
                  </a:txBody>
                  <a:tcPr>
                    <a:solidFill>
                      <a:srgbClr val="161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417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61B21"/>
                          </a:solidFill>
                        </a:rPr>
                        <a:t>PPO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0417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61B21"/>
                          </a:solidFill>
                        </a:rPr>
                        <a:t>GRPO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0000"/>
                          </a:solidFill>
                        </a:rPr>
                        <a:t>Usually yes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417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61B21"/>
                          </a:solidFill>
                        </a:rPr>
                        <a:t>BAS</a:t>
                      </a:r>
                      <a:r>
                        <a:rPr lang="en-US" altLang="zh-CN" sz="2000" b="1">
                          <a:solidFill>
                            <a:srgbClr val="161B21"/>
                          </a:solidFill>
                        </a:rPr>
                        <a:t>IS</a:t>
                      </a:r>
                      <a:endParaRPr sz="2000" b="1">
                        <a:solidFill>
                          <a:srgbClr val="161B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223760" y="1737360"/>
            <a:ext cx="4069080" cy="1645920"/>
          </a:xfrm>
          <a:prstGeom prst="roundRect">
            <a:avLst/>
          </a:prstGeom>
          <a:solidFill>
            <a:srgbClr val="F7ECEC"/>
          </a:solidFill>
          <a:ln w="12700">
            <a:solidFill>
              <a:srgbClr val="F7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0064" y="1847088"/>
            <a:ext cx="3794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2529"/>
                </a:solidFill>
                <a:latin typeface="Aptos"/>
              </a:rPr>
              <a:t>PPO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2130552"/>
            <a:ext cx="3794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39414D"/>
                </a:solidFill>
                <a:latin typeface="Aptos"/>
              </a:defRPr>
            </a:pPr>
            <a:r>
              <a:t>Stable and effective even with one sampled completion per prompt.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39414D"/>
                </a:solidFill>
                <a:latin typeface="Aptos"/>
              </a:defRPr>
            </a:pPr>
            <a:r>
              <a:t>But advantage estimation typically requires a separate value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657600"/>
            <a:ext cx="4069080" cy="1920240"/>
          </a:xfrm>
          <a:prstGeom prst="roundRect">
            <a:avLst/>
          </a:prstGeom>
          <a:solidFill>
            <a:srgbClr val="ECF2FA"/>
          </a:solidFill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0064" y="3767328"/>
            <a:ext cx="3794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5AA5"/>
                </a:solidFill>
                <a:latin typeface="Aptos"/>
              </a:rPr>
              <a:t>GRPO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0064" y="4050792"/>
            <a:ext cx="37947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39414D"/>
                </a:solidFill>
                <a:latin typeface="Aptos"/>
              </a:defRPr>
            </a:pPr>
            <a:r>
              <a:t>Avoids value fitting by using within-prompt group statistics.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39414D"/>
                </a:solidFill>
                <a:latin typeface="Aptos"/>
              </a:defRPr>
            </a:pPr>
            <a:r>
              <a:t>But local group normalization becomes fragile when G is small.</a:t>
            </a:r>
          </a:p>
        </p:txBody>
      </p:sp>
      <p:sp>
        <p:nvSpPr>
          <p:cNvPr id="18" name="日期占位符 17">
            <a:extLst>
              <a:ext uri="{FF2B5EF4-FFF2-40B4-BE49-F238E27FC236}">
                <a16:creationId xmlns:a16="http://schemas.microsoft.com/office/drawing/2014/main" id="{A459BD2E-FED8-9121-4EB1-8581EA9D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9" name="页脚占位符 18">
            <a:extLst>
              <a:ext uri="{FF2B5EF4-FFF2-40B4-BE49-F238E27FC236}">
                <a16:creationId xmlns:a16="http://schemas.microsoft.com/office/drawing/2014/main" id="{476087CD-B62E-DAC0-9E68-0410C1BB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BC4CF76E-EB88-31C2-4750-0459AC48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9495" y="393192"/>
            <a:ext cx="8549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1B21"/>
                </a:solidFill>
                <a:latin typeface="Aptos Display"/>
              </a:rPr>
              <a:t>Core intuition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3556" y="1794813"/>
            <a:ext cx="493048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400" b="1">
                <a:solidFill>
                  <a:srgbClr val="161B21"/>
                </a:solidFill>
                <a:latin typeface="Aptos"/>
              </a:rPr>
              <a:t>Current limitation.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400">
                <a:latin typeface="Aptos Narrow" panose="020B0004020202020204" pitchFamily="34" charset="0"/>
              </a:rPr>
              <a:t>Different prompts in the same mini-batch are usually treated as independent training units.</a:t>
            </a:r>
          </a:p>
          <a:p>
            <a:endParaRPr lang="en-US" sz="2400">
              <a:solidFill>
                <a:srgbClr val="39414D"/>
              </a:solidFill>
              <a:latin typeface="Aptos"/>
            </a:endParaRPr>
          </a:p>
          <a:p>
            <a:r>
              <a:rPr lang="en" altLang="zh-CN" sz="2400" b="1">
                <a:solidFill>
                  <a:srgbClr val="161B21"/>
                </a:solidFill>
                <a:latin typeface="Aptos"/>
              </a:rPr>
              <a:t>Key observation.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400">
                <a:latin typeface="Aptos Narrow" panose="020B0004020202020204" pitchFamily="34" charset="0"/>
              </a:rPr>
              <a:t>However, prompts may share latent information, such as difficulty level, solution structure, and reward behavior, rather than being completely unrelated.</a:t>
            </a:r>
            <a:endParaRPr lang="en-US" sz="2400">
              <a:solidFill>
                <a:srgbClr val="39414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12180" y="1865376"/>
            <a:ext cx="5009388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2614" y="2124971"/>
            <a:ext cx="4748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B21"/>
                </a:solidFill>
                <a:latin typeface="Aptos"/>
              </a:rPr>
              <a:t>Mini-batch as a graph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 flipV="1">
            <a:off x="6867146" y="2780352"/>
            <a:ext cx="1371600" cy="365760"/>
          </a:xfrm>
          <a:prstGeom prst="line">
            <a:avLst/>
          </a:prstGeom>
          <a:ln w="16510">
            <a:solidFill>
              <a:srgbClr val="CC25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8238746" y="2780352"/>
            <a:ext cx="1463040" cy="429768"/>
          </a:xfrm>
          <a:prstGeom prst="line">
            <a:avLst/>
          </a:prstGeom>
          <a:ln w="16510">
            <a:solidFill>
              <a:srgbClr val="2D5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>
            <a:off x="6867146" y="3146112"/>
            <a:ext cx="91440" cy="1527048"/>
          </a:xfrm>
          <a:prstGeom prst="line">
            <a:avLst/>
          </a:prstGeom>
          <a:ln w="16510">
            <a:solidFill>
              <a:srgbClr val="7151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</p:cNvCxnSpPr>
          <p:nvPr/>
        </p:nvCxnSpPr>
        <p:spPr>
          <a:xfrm>
            <a:off x="8238746" y="2780352"/>
            <a:ext cx="45720" cy="1069848"/>
          </a:xfrm>
          <a:prstGeom prst="line">
            <a:avLst/>
          </a:prstGeom>
          <a:ln w="16510">
            <a:solidFill>
              <a:srgbClr val="CC25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>
          <a:xfrm>
            <a:off x="9701786" y="3210120"/>
            <a:ext cx="137160" cy="1335024"/>
          </a:xfrm>
          <a:prstGeom prst="line">
            <a:avLst/>
          </a:prstGeom>
          <a:ln w="16510">
            <a:solidFill>
              <a:srgbClr val="2D5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</p:cNvCxnSpPr>
          <p:nvPr/>
        </p:nvCxnSpPr>
        <p:spPr>
          <a:xfrm flipV="1">
            <a:off x="6958586" y="3850200"/>
            <a:ext cx="1325880" cy="822960"/>
          </a:xfrm>
          <a:prstGeom prst="line">
            <a:avLst/>
          </a:prstGeom>
          <a:ln w="16510">
            <a:solidFill>
              <a:srgbClr val="2D5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>
          <a:xfrm>
            <a:off x="8284466" y="3850200"/>
            <a:ext cx="1554480" cy="694944"/>
          </a:xfrm>
          <a:prstGeom prst="line">
            <a:avLst/>
          </a:prstGeom>
          <a:ln w="16510">
            <a:solidFill>
              <a:srgbClr val="CC25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</p:cNvCxnSpPr>
          <p:nvPr/>
        </p:nvCxnSpPr>
        <p:spPr>
          <a:xfrm>
            <a:off x="6867146" y="3146112"/>
            <a:ext cx="1417320" cy="704088"/>
          </a:xfrm>
          <a:prstGeom prst="line">
            <a:avLst/>
          </a:prstGeom>
          <a:ln w="16510">
            <a:solidFill>
              <a:srgbClr val="7151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</p:cNvCxnSpPr>
          <p:nvPr/>
        </p:nvCxnSpPr>
        <p:spPr>
          <a:xfrm>
            <a:off x="8238746" y="2780352"/>
            <a:ext cx="1600200" cy="1764792"/>
          </a:xfrm>
          <a:prstGeom prst="line">
            <a:avLst/>
          </a:prstGeom>
          <a:ln w="16510">
            <a:solidFill>
              <a:srgbClr val="CC25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693410" y="2972376"/>
            <a:ext cx="331055" cy="347472"/>
          </a:xfrm>
          <a:prstGeom prst="ellipse">
            <a:avLst/>
          </a:prstGeom>
          <a:solidFill>
            <a:srgbClr val="CC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72253" y="3036384"/>
            <a:ext cx="5619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x1</a:t>
            </a:r>
          </a:p>
        </p:txBody>
      </p:sp>
      <p:sp>
        <p:nvSpPr>
          <p:cNvPr id="22" name="Oval 21"/>
          <p:cNvSpPr/>
          <p:nvPr/>
        </p:nvSpPr>
        <p:spPr>
          <a:xfrm>
            <a:off x="8065010" y="2606616"/>
            <a:ext cx="331055" cy="347472"/>
          </a:xfrm>
          <a:prstGeom prst="ellipse">
            <a:avLst/>
          </a:prstGeom>
          <a:solidFill>
            <a:srgbClr val="2D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19289" y="2652336"/>
            <a:ext cx="435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x2</a:t>
            </a:r>
          </a:p>
        </p:txBody>
      </p:sp>
      <p:sp>
        <p:nvSpPr>
          <p:cNvPr id="24" name="Oval 23"/>
          <p:cNvSpPr/>
          <p:nvPr/>
        </p:nvSpPr>
        <p:spPr>
          <a:xfrm>
            <a:off x="9528050" y="3036384"/>
            <a:ext cx="331055" cy="347472"/>
          </a:xfrm>
          <a:prstGeom prst="ellipse">
            <a:avLst/>
          </a:prstGeom>
          <a:solidFill>
            <a:srgbClr val="715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90890" y="3092336"/>
            <a:ext cx="6229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x3</a:t>
            </a:r>
          </a:p>
        </p:txBody>
      </p:sp>
      <p:sp>
        <p:nvSpPr>
          <p:cNvPr id="26" name="Oval 25"/>
          <p:cNvSpPr/>
          <p:nvPr/>
        </p:nvSpPr>
        <p:spPr>
          <a:xfrm>
            <a:off x="6784850" y="4499423"/>
            <a:ext cx="331055" cy="347472"/>
          </a:xfrm>
          <a:prstGeom prst="ellipse">
            <a:avLst/>
          </a:prstGeom>
          <a:solidFill>
            <a:srgbClr val="2D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93411" y="4566160"/>
            <a:ext cx="5299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x4</a:t>
            </a:r>
          </a:p>
        </p:txBody>
      </p:sp>
      <p:sp>
        <p:nvSpPr>
          <p:cNvPr id="28" name="Oval 27"/>
          <p:cNvSpPr/>
          <p:nvPr/>
        </p:nvSpPr>
        <p:spPr>
          <a:xfrm>
            <a:off x="8110730" y="3676464"/>
            <a:ext cx="331055" cy="347472"/>
          </a:xfrm>
          <a:prstGeom prst="ellipse">
            <a:avLst/>
          </a:prstGeom>
          <a:solidFill>
            <a:srgbClr val="CC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19288" y="3749195"/>
            <a:ext cx="5619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x5</a:t>
            </a:r>
          </a:p>
        </p:txBody>
      </p:sp>
      <p:sp>
        <p:nvSpPr>
          <p:cNvPr id="30" name="Oval 29"/>
          <p:cNvSpPr/>
          <p:nvPr/>
        </p:nvSpPr>
        <p:spPr>
          <a:xfrm>
            <a:off x="9665209" y="4371408"/>
            <a:ext cx="331055" cy="347472"/>
          </a:xfrm>
          <a:prstGeom prst="ellipse">
            <a:avLst/>
          </a:prstGeom>
          <a:solidFill>
            <a:srgbClr val="715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16444" y="4422903"/>
            <a:ext cx="4355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x6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5644" y="5245314"/>
            <a:ext cx="418175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F7782"/>
                </a:solidFill>
                <a:latin typeface="Aptos"/>
              </a:rPr>
              <a:t>BAS</a:t>
            </a:r>
            <a:r>
              <a:rPr lang="en-US" altLang="zh-CN" sz="1300" b="0">
                <a:solidFill>
                  <a:srgbClr val="6F7782"/>
                </a:solidFill>
                <a:latin typeface="Aptos"/>
              </a:rPr>
              <a:t>IS</a:t>
            </a:r>
            <a:r>
              <a:rPr sz="1300" b="0">
                <a:solidFill>
                  <a:srgbClr val="6F7782"/>
                </a:solidFill>
                <a:latin typeface="Aptos"/>
              </a:rPr>
              <a:t> uses the </a:t>
            </a:r>
            <a:r>
              <a:rPr lang="en-US" altLang="zh-CN" sz="1300">
                <a:solidFill>
                  <a:srgbClr val="6F7782"/>
                </a:solidFill>
                <a:latin typeface="Aptos"/>
              </a:rPr>
              <a:t>training</a:t>
            </a:r>
            <a:r>
              <a:rPr sz="1300" b="0">
                <a:solidFill>
                  <a:srgbClr val="6F7782"/>
                </a:solidFill>
                <a:latin typeface="Aptos"/>
              </a:rPr>
              <a:t>-batch as a statistical neighborhood.</a:t>
            </a:r>
          </a:p>
        </p:txBody>
      </p:sp>
      <p:sp>
        <p:nvSpPr>
          <p:cNvPr id="52" name="Rounded Rectangle 1">
            <a:extLst>
              <a:ext uri="{FF2B5EF4-FFF2-40B4-BE49-F238E27FC236}">
                <a16:creationId xmlns:a16="http://schemas.microsoft.com/office/drawing/2014/main" id="{1928F751-88C5-5851-F810-4735CC6D0D8F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">
            <a:extLst>
              <a:ext uri="{FF2B5EF4-FFF2-40B4-BE49-F238E27FC236}">
                <a16:creationId xmlns:a16="http://schemas.microsoft.com/office/drawing/2014/main" id="{86A5AD4E-CEFE-2886-C438-353C762B21B4}"/>
              </a:ext>
            </a:extLst>
          </p:cNvPr>
          <p:cNvSpPr txBox="1"/>
          <p:nvPr/>
        </p:nvSpPr>
        <p:spPr>
          <a:xfrm>
            <a:off x="475488" y="395532"/>
            <a:ext cx="11064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p:sp>
        <p:nvSpPr>
          <p:cNvPr id="36" name="日期占位符 35">
            <a:extLst>
              <a:ext uri="{FF2B5EF4-FFF2-40B4-BE49-F238E27FC236}">
                <a16:creationId xmlns:a16="http://schemas.microsoft.com/office/drawing/2014/main" id="{203F1124-3951-C607-838D-890F2B3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 dirty="0"/>
          </a:p>
        </p:txBody>
      </p:sp>
      <p:sp>
        <p:nvSpPr>
          <p:cNvPr id="37" name="页脚占位符 36">
            <a:extLst>
              <a:ext uri="{FF2B5EF4-FFF2-40B4-BE49-F238E27FC236}">
                <a16:creationId xmlns:a16="http://schemas.microsoft.com/office/drawing/2014/main" id="{C5BABD88-67F4-F6EB-CEDE-F39C11AF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38" name="灯片编号占位符 37">
            <a:extLst>
              <a:ext uri="{FF2B5EF4-FFF2-40B4-BE49-F238E27FC236}">
                <a16:creationId xmlns:a16="http://schemas.microsoft.com/office/drawing/2014/main" id="{CA7937B1-D174-CA23-D6B3-5BEDD8742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ide_cinematic_digital_illustration_sci_fi_abst_batch_1.png">
            <a:extLst>
              <a:ext uri="{FF2B5EF4-FFF2-40B4-BE49-F238E27FC236}">
                <a16:creationId xmlns:a16="http://schemas.microsoft.com/office/drawing/2014/main" id="{841E9088-194C-4057-5533-EAE61BF5FA6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5001584" y="0"/>
            <a:ext cx="7205656" cy="6858000"/>
          </a:xfrm>
          <a:prstGeom prst="rect">
            <a:avLst/>
          </a:prstGeo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B18C44F4-3452-B163-FE55-171D88A33626}"/>
              </a:ext>
            </a:extLst>
          </p:cNvPr>
          <p:cNvSpPr/>
          <p:nvPr/>
        </p:nvSpPr>
        <p:spPr>
          <a:xfrm>
            <a:off x="777239" y="1042414"/>
            <a:ext cx="10427210" cy="1106426"/>
          </a:xfrm>
          <a:prstGeom prst="roundRect">
            <a:avLst/>
          </a:prstGeom>
          <a:solidFill>
            <a:srgbClr val="2B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BBD062F-6AFA-7B52-9368-86C1479176F1}"/>
              </a:ext>
            </a:extLst>
          </p:cNvPr>
          <p:cNvSpPr txBox="1"/>
          <p:nvPr/>
        </p:nvSpPr>
        <p:spPr>
          <a:xfrm>
            <a:off x="1707966" y="1171717"/>
            <a:ext cx="84245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4800" b="1">
                <a:solidFill>
                  <a:srgbClr val="FFFFFF"/>
                </a:solidFill>
                <a:latin typeface="Aptos"/>
              </a:rPr>
              <a:t>BASIS: Batchwise Advantage</a:t>
            </a:r>
            <a:endParaRPr sz="4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C4E6E56-F3CF-6C9E-3E90-11DE6DCA96CA}"/>
              </a:ext>
            </a:extLst>
          </p:cNvPr>
          <p:cNvSpPr txBox="1"/>
          <p:nvPr/>
        </p:nvSpPr>
        <p:spPr>
          <a:xfrm>
            <a:off x="1234438" y="2403759"/>
            <a:ext cx="49573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From local groups to batchwise </a:t>
            </a:r>
            <a:r>
              <a:rPr lang="en-US" altLang="zh-CN" sz="3600" b="1">
                <a:solidFill>
                  <a:srgbClr val="FFFFFF"/>
                </a:solidFill>
                <a:latin typeface="Aptos Display"/>
              </a:rPr>
              <a:t>information</a:t>
            </a:r>
            <a:r>
              <a:rPr lang="zh-CN" altLang="en-US" sz="3600" b="1">
                <a:solidFill>
                  <a:srgbClr val="FFFFFF"/>
                </a:solidFill>
                <a:latin typeface="Aptos Display"/>
              </a:rPr>
              <a:t> </a:t>
            </a:r>
            <a:r>
              <a:rPr sz="3600" b="1">
                <a:solidFill>
                  <a:srgbClr val="FFFFFF"/>
                </a:solidFill>
                <a:latin typeface="Aptos Display"/>
              </a:rPr>
              <a:t>sharing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DAEFE39-D8FB-B1FC-5D36-6BCD5EBDD38F}"/>
              </a:ext>
            </a:extLst>
          </p:cNvPr>
          <p:cNvSpPr txBox="1"/>
          <p:nvPr/>
        </p:nvSpPr>
        <p:spPr>
          <a:xfrm>
            <a:off x="1249680" y="4158085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ADFE7"/>
                </a:solidFill>
                <a:latin typeface="Aptos"/>
              </a:rPr>
              <a:t>The update rule remains familiar; the baseline estimator is what changes.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AB0EDC-6507-6DDE-A5CE-CFBBBE9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3AE894-083A-C375-948F-90907B3B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4B165F-1816-3322-A355-EDE732BF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0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9CB2F-2B20-4CEC-376A-7D5F61F9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34E39CE-0ADC-0B67-758C-B16D45DF58E8}"/>
              </a:ext>
            </a:extLst>
          </p:cNvPr>
          <p:cNvSpPr/>
          <p:nvPr/>
        </p:nvSpPr>
        <p:spPr>
          <a:xfrm>
            <a:off x="415205" y="16866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FD7E4-BFBC-C77A-2123-1134EC54EA4B}"/>
              </a:ext>
            </a:extLst>
          </p:cNvPr>
          <p:cNvSpPr txBox="1"/>
          <p:nvPr/>
        </p:nvSpPr>
        <p:spPr>
          <a:xfrm>
            <a:off x="515789" y="214388"/>
            <a:ext cx="777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9E66FF-5CEC-1A03-82DE-7AA1503BD2D6}"/>
              </a:ext>
            </a:extLst>
          </p:cNvPr>
          <p:cNvSpPr txBox="1"/>
          <p:nvPr/>
        </p:nvSpPr>
        <p:spPr>
          <a:xfrm>
            <a:off x="415205" y="506486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>
                <a:latin typeface="Aptos"/>
              </a:rPr>
              <a:t>Single-rollout effective </a:t>
            </a:r>
            <a:r>
              <a:rPr lang="en-US" altLang="zh-CN" sz="2800" b="1">
                <a:latin typeface="Aptos"/>
              </a:rPr>
              <a:t>(even using half time)</a:t>
            </a:r>
            <a:endParaRPr lang="en" altLang="zh-CN" sz="2800" b="1"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21E09A-D73D-5A76-CDFE-C13D6853CACA}"/>
              </a:ext>
            </a:extLst>
          </p:cNvPr>
          <p:cNvSpPr/>
          <p:nvPr/>
        </p:nvSpPr>
        <p:spPr>
          <a:xfrm>
            <a:off x="415205" y="963686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49BDAACD-1544-71A4-25E2-F69495B68033}"/>
              </a:ext>
            </a:extLst>
          </p:cNvPr>
          <p:cNvSpPr/>
          <p:nvPr/>
        </p:nvSpPr>
        <p:spPr>
          <a:xfrm>
            <a:off x="415205" y="16866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F6889E86-CB69-8430-2AE6-2E194508C3C4}"/>
              </a:ext>
            </a:extLst>
          </p:cNvPr>
          <p:cNvSpPr txBox="1"/>
          <p:nvPr/>
        </p:nvSpPr>
        <p:spPr>
          <a:xfrm>
            <a:off x="415205" y="175580"/>
            <a:ext cx="960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>
                <a:solidFill>
                  <a:srgbClr val="CC2529"/>
                </a:solidFill>
                <a:latin typeface="Aptos"/>
              </a:rPr>
              <a:t>Experiments</a:t>
            </a:r>
            <a:endParaRPr sz="900" b="1">
              <a:solidFill>
                <a:srgbClr val="CC2529"/>
              </a:solidFill>
              <a:latin typeface="Apto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3122A19-162C-B943-0A8B-392159B5B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33" y="1029706"/>
            <a:ext cx="10024533" cy="5634068"/>
          </a:xfrm>
          <a:prstGeom prst="rect">
            <a:avLst/>
          </a:prstGeom>
        </p:spPr>
      </p:pic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159D3978-C7F9-5238-309C-302D5F59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299" y="6549510"/>
            <a:ext cx="2133600" cy="365125"/>
          </a:xfrm>
        </p:spPr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45E9690D-E096-781D-77F8-584E71B5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199" y="6533515"/>
            <a:ext cx="2895600" cy="365125"/>
          </a:xfrm>
        </p:spPr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E6C191B8-D31F-57DF-79BB-ACF7B444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274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6233C-722E-036A-81EB-B50596AA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3BBC384-B57A-5F2C-2A0A-15D46AB7F7E8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DA4E6-6D51-A794-AF9B-AE357B9CABC1}"/>
              </a:ext>
            </a:extLst>
          </p:cNvPr>
          <p:cNvSpPr txBox="1"/>
          <p:nvPr/>
        </p:nvSpPr>
        <p:spPr>
          <a:xfrm>
            <a:off x="539495" y="393192"/>
            <a:ext cx="8549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BAS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941335-3215-EFC4-BD87-1EC2F41C8831}"/>
              </a:ext>
            </a:extLst>
          </p:cNvPr>
          <p:cNvSpPr txBox="1"/>
          <p:nvPr/>
        </p:nvSpPr>
        <p:spPr>
          <a:xfrm>
            <a:off x="548640" y="841248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>
                <a:solidFill>
                  <a:srgbClr val="161B21"/>
                </a:solidFill>
                <a:latin typeface="Aptos"/>
              </a:rPr>
              <a:t>Two key questions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66F5AB-6570-E4B6-0C53-F74D257CDCE7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521DB-D178-9FE2-7D60-CBA8FD6A34C5}"/>
              </a:ext>
            </a:extLst>
          </p:cNvPr>
          <p:cNvSpPr txBox="1"/>
          <p:nvPr/>
        </p:nvSpPr>
        <p:spPr>
          <a:xfrm>
            <a:off x="1488701" y="4834819"/>
            <a:ext cx="364285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800">
                <a:latin typeface="Aptos Narrow" panose="020B0004020202020204" pitchFamily="34" charset="0"/>
              </a:rPr>
              <a:t>How can we define and quantify such shared information?</a:t>
            </a:r>
            <a:br>
              <a:rPr lang="en" altLang="zh-CN"/>
            </a:br>
            <a:endParaRPr lang="en" altLang="zh-CN"/>
          </a:p>
        </p:txBody>
      </p:sp>
      <p:sp>
        <p:nvSpPr>
          <p:cNvPr id="52" name="Rounded Rectangle 1">
            <a:extLst>
              <a:ext uri="{FF2B5EF4-FFF2-40B4-BE49-F238E27FC236}">
                <a16:creationId xmlns:a16="http://schemas.microsoft.com/office/drawing/2014/main" id="{26E6F0EE-3406-FFAC-99DE-31E95AE88CC3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">
            <a:extLst>
              <a:ext uri="{FF2B5EF4-FFF2-40B4-BE49-F238E27FC236}">
                <a16:creationId xmlns:a16="http://schemas.microsoft.com/office/drawing/2014/main" id="{1887DF61-176E-6CC6-6986-41C7B9AAD4A4}"/>
              </a:ext>
            </a:extLst>
          </p:cNvPr>
          <p:cNvSpPr txBox="1"/>
          <p:nvPr/>
        </p:nvSpPr>
        <p:spPr>
          <a:xfrm>
            <a:off x="475488" y="395532"/>
            <a:ext cx="11064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FA97B29-0073-6B22-BAEC-49C84B349829}"/>
              </a:ext>
            </a:extLst>
          </p:cNvPr>
          <p:cNvSpPr txBox="1"/>
          <p:nvPr/>
        </p:nvSpPr>
        <p:spPr>
          <a:xfrm>
            <a:off x="7987237" y="4612350"/>
            <a:ext cx="36428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800">
                <a:latin typeface="Aptos Narrow" panose="020B0004020202020204" pitchFamily="34" charset="0"/>
              </a:rPr>
              <a:t>How can this information be used to help prompts learn from each other?</a:t>
            </a:r>
            <a:endParaRPr lang="zh-CN" altLang="en-US" sz="2800"/>
          </a:p>
        </p:txBody>
      </p:sp>
      <p:sp>
        <p:nvSpPr>
          <p:cNvPr id="36" name="右箭头 35">
            <a:extLst>
              <a:ext uri="{FF2B5EF4-FFF2-40B4-BE49-F238E27FC236}">
                <a16:creationId xmlns:a16="http://schemas.microsoft.com/office/drawing/2014/main" id="{4CEC62C9-566C-320E-21A8-8EDD659E463E}"/>
              </a:ext>
            </a:extLst>
          </p:cNvPr>
          <p:cNvSpPr/>
          <p:nvPr/>
        </p:nvSpPr>
        <p:spPr>
          <a:xfrm rot="8020621">
            <a:off x="4745319" y="4106680"/>
            <a:ext cx="1017639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60FD004-8B5F-A637-002F-1C2618BFA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33" y="1700619"/>
            <a:ext cx="11445933" cy="2053482"/>
          </a:xfrm>
          <a:prstGeom prst="rect">
            <a:avLst/>
          </a:prstGeom>
        </p:spPr>
      </p:pic>
      <p:sp>
        <p:nvSpPr>
          <p:cNvPr id="38" name="右箭头 37">
            <a:extLst>
              <a:ext uri="{FF2B5EF4-FFF2-40B4-BE49-F238E27FC236}">
                <a16:creationId xmlns:a16="http://schemas.microsoft.com/office/drawing/2014/main" id="{5B21682E-897A-6B72-652F-D1B5B2556BEF}"/>
              </a:ext>
            </a:extLst>
          </p:cNvPr>
          <p:cNvSpPr/>
          <p:nvPr/>
        </p:nvSpPr>
        <p:spPr>
          <a:xfrm rot="2988988">
            <a:off x="7140879" y="4117040"/>
            <a:ext cx="1017639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69A8BB6E-5DB9-14BC-3D57-AD1A1976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56A8340B-C569-3918-CDBB-D16AED98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8FAA5645-06B9-78F8-EC82-2DAB788D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914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E310C-7021-464A-6F22-39B96762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A5C2119-B6DE-ABA0-5849-91FC6C21312E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20F38-54D0-560A-558D-559EC3772604}"/>
              </a:ext>
            </a:extLst>
          </p:cNvPr>
          <p:cNvSpPr txBox="1"/>
          <p:nvPr/>
        </p:nvSpPr>
        <p:spPr>
          <a:xfrm>
            <a:off x="649224" y="429768"/>
            <a:ext cx="777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BAS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1C06E-99D3-E950-D48B-18D0CD2DF857}"/>
              </a:ext>
            </a:extLst>
          </p:cNvPr>
          <p:cNvSpPr txBox="1"/>
          <p:nvPr/>
        </p:nvSpPr>
        <p:spPr>
          <a:xfrm>
            <a:off x="548640" y="841248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>
                <a:solidFill>
                  <a:srgbClr val="161B21"/>
                </a:solidFill>
                <a:latin typeface="Aptos Display"/>
              </a:rPr>
              <a:t>Our</a:t>
            </a:r>
            <a:r>
              <a:rPr lang="zh-CN" altLang="en-US" sz="2800" b="1">
                <a:solidFill>
                  <a:srgbClr val="161B21"/>
                </a:solidFill>
                <a:latin typeface="Aptos Display"/>
              </a:rPr>
              <a:t> </a:t>
            </a:r>
            <a:r>
              <a:rPr lang="en-US" altLang="zh-CN" sz="2800" b="1">
                <a:solidFill>
                  <a:srgbClr val="161B21"/>
                </a:solidFill>
                <a:latin typeface="Aptos Display"/>
              </a:rPr>
              <a:t>Initial Goal</a:t>
            </a:r>
            <a:endParaRPr sz="2800" b="1">
              <a:solidFill>
                <a:srgbClr val="161B21"/>
              </a:solidFill>
              <a:latin typeface="Aptos Display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FB336-F768-3D86-C716-242F0770D0DF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F00F24-70EC-9F47-CF5E-594BD9F778E3}"/>
                  </a:ext>
                </a:extLst>
              </p:cNvPr>
              <p:cNvSpPr txBox="1"/>
              <p:nvPr/>
            </p:nvSpPr>
            <p:spPr>
              <a:xfrm>
                <a:off x="4128963" y="2667407"/>
                <a:ext cx="3451714" cy="9414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acc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𝓉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̂"/>
                          <m:ctrl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acc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F00F24-70EC-9F47-CF5E-594BD9F77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63" y="2667407"/>
                <a:ext cx="3451714" cy="9414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9620259-AD93-C346-0D02-000AD86EFD62}"/>
                  </a:ext>
                </a:extLst>
              </p:cNvPr>
              <p:cNvSpPr txBox="1"/>
              <p:nvPr/>
            </p:nvSpPr>
            <p:spPr>
              <a:xfrm>
                <a:off x="548640" y="4190593"/>
                <a:ext cx="10867197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is a</a:t>
                </a:r>
                <a:r>
                  <a:rPr lang="zh-CN" altLang="en-US" sz="2400" dirty="0"/>
                  <a:t> batch-dependent cross-prompt information borrowing coefficient, measuring how much the empirical reward statistic from prompt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zh-CN" altLang="en-US" sz="2400" dirty="0"/>
                  <a:t> contributes to the baseline estimate for prompt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at training step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zh-CN" alt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lit/>
                      </m:rPr>
                      <a:rPr lang="zh-CN" altLang="en-US" sz="2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9620259-AD93-C346-0D02-000AD86EF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4190593"/>
                <a:ext cx="10867197" cy="2031325"/>
              </a:xfrm>
              <a:prstGeom prst="rect">
                <a:avLst/>
              </a:prstGeom>
              <a:blipFill>
                <a:blip r:embed="rId4"/>
                <a:stretch>
                  <a:fillRect l="-841" t="-2395" r="-1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5097DA7-0761-33DA-FE51-322BE9B67160}"/>
                  </a:ext>
                </a:extLst>
              </p:cNvPr>
              <p:cNvSpPr txBox="1"/>
              <p:nvPr/>
            </p:nvSpPr>
            <p:spPr>
              <a:xfrm>
                <a:off x="747837" y="1651744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/>
                  <a:t>Find a good</a:t>
                </a:r>
                <a:r>
                  <a:rPr lang="zh-CN" altLang="en-US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/>
                  <a:t> in :</a:t>
                </a:r>
                <a:endParaRPr lang="zh-CN" altLang="en-US" sz="240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5097DA7-0761-33DA-FE51-322BE9B67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37" y="1651744"/>
                <a:ext cx="6096000" cy="461665"/>
              </a:xfrm>
              <a:prstGeom prst="rect">
                <a:avLst/>
              </a:prstGeom>
              <a:blipFill>
                <a:blip r:embed="rId5"/>
                <a:stretch>
                  <a:fillRect l="-160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E01443EE-4C9A-5B04-4952-B6A12346243E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81E5A4EF-1FEA-B680-3AC2-4719BD4F5ED5}"/>
              </a:ext>
            </a:extLst>
          </p:cNvPr>
          <p:cNvSpPr txBox="1"/>
          <p:nvPr/>
        </p:nvSpPr>
        <p:spPr>
          <a:xfrm>
            <a:off x="475488" y="395532"/>
            <a:ext cx="11064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8898F236-DD65-2535-DC20-218667D8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3BB92BB1-7CF4-CC85-D195-E3833D1AB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4E1F4D21-5BFF-028B-1219-70371ED8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828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C5C16-3907-A574-E8D3-9E9E2A7E1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EF74396-814A-659F-6EEF-08D472BD5298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35E9F-8890-F314-C9B8-6D8916CF36E8}"/>
              </a:ext>
            </a:extLst>
          </p:cNvPr>
          <p:cNvSpPr txBox="1"/>
          <p:nvPr/>
        </p:nvSpPr>
        <p:spPr>
          <a:xfrm>
            <a:off x="649224" y="429768"/>
            <a:ext cx="777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BAS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40A67F-B12A-3F87-8B5C-A048D30EAA43}"/>
              </a:ext>
            </a:extLst>
          </p:cNvPr>
          <p:cNvSpPr txBox="1"/>
          <p:nvPr/>
        </p:nvSpPr>
        <p:spPr>
          <a:xfrm>
            <a:off x="548640" y="841248"/>
            <a:ext cx="80467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500" b="1">
                <a:solidFill>
                  <a:srgbClr val="161B21"/>
                </a:solidFill>
                <a:latin typeface="Aptos Display"/>
              </a:rPr>
              <a:t>Batchwise refinement: </a:t>
            </a:r>
            <a:r>
              <a:rPr lang="en-US" sz="2500" b="1">
                <a:solidFill>
                  <a:srgbClr val="161B21"/>
                </a:solidFill>
                <a:latin typeface="Aptos Display"/>
              </a:rPr>
              <a:t>Proposition 1 </a:t>
            </a:r>
            <a:r>
              <a:rPr lang="en-US" altLang="zh-CN" sz="2500" b="1">
                <a:solidFill>
                  <a:srgbClr val="161B21"/>
                </a:solidFill>
                <a:latin typeface="Aptos Display"/>
              </a:rPr>
              <a:t>(BLUE) </a:t>
            </a:r>
            <a:endParaRPr sz="2500" b="1">
              <a:solidFill>
                <a:srgbClr val="161B21"/>
              </a:solidFill>
              <a:latin typeface="Aptos Display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A795F6-9EF0-A0CD-87C6-10C36436A675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C945EF7-483D-937A-FF02-E73F17634D1E}"/>
                  </a:ext>
                </a:extLst>
              </p:cNvPr>
              <p:cNvSpPr txBox="1"/>
              <p:nvPr/>
            </p:nvSpPr>
            <p:spPr>
              <a:xfrm>
                <a:off x="2551892" y="2059158"/>
                <a:ext cx="6966295" cy="10802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  <m:e>
                          <m:sSub>
                            <m:sSub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m:rPr>
                          <m:nor/>
                        </m:rPr>
                        <a:rPr kumimoji="1" lang="en" altLang="zh-CN" sz="2400" i="0">
                          <a:latin typeface="Cambria Math" panose="02040503050406030204" pitchFamily="18" charset="0"/>
                        </a:rPr>
                        <m:t>such that </m:t>
                      </m:r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C945EF7-483D-937A-FF02-E73F17634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892" y="2059158"/>
                <a:ext cx="6966295" cy="10802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963FDA5-8BD2-0BB4-CBFE-51761B682D23}"/>
                  </a:ext>
                </a:extLst>
              </p:cNvPr>
              <p:cNvSpPr txBox="1"/>
              <p:nvPr/>
            </p:nvSpPr>
            <p:spPr>
              <a:xfrm>
                <a:off x="4147048" y="3882610"/>
                <a:ext cx="2805833" cy="1303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sSubSup>
                            <m:sSubSup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  <m:sup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lit/>
                                </m:r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Sup>
                                <m:sSubSup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  <m:sup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1" lang="en-US" altLang="zh-CN"/>
              </a:p>
              <a:p>
                <a:endParaRPr kumimoji="1"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963FDA5-8BD2-0BB4-CBFE-51761B682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048" y="3882610"/>
                <a:ext cx="2805833" cy="1303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31A1C24-529E-260D-3A18-E0B4C5098F46}"/>
                  </a:ext>
                </a:extLst>
              </p:cNvPr>
              <p:cNvSpPr txBox="1"/>
              <p:nvPr/>
            </p:nvSpPr>
            <p:spPr>
              <a:xfrm>
                <a:off x="902208" y="1497274"/>
                <a:ext cx="86685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/>
                  <a:t>The c</a:t>
                </a:r>
                <a:r>
                  <a:rPr lang="zh-CN" altLang="en-US" sz="2400"/>
                  <a:t>onstrained MSE-minimizing</a:t>
                </a:r>
                <a:r>
                  <a:rPr lang="en-US" altLang="zh-CN" sz="2400"/>
                  <a:t> l</a:t>
                </a:r>
                <a:r>
                  <a:rPr lang="zh-CN" altLang="en-US" sz="2400"/>
                  <a:t>inear unbiased estimator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/>
                  <a:t>,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31A1C24-529E-260D-3A18-E0B4C5098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08" y="1497274"/>
                <a:ext cx="8668512" cy="461665"/>
              </a:xfrm>
              <a:prstGeom prst="rect">
                <a:avLst/>
              </a:prstGeom>
              <a:blipFill>
                <a:blip r:embed="rId5"/>
                <a:stretch>
                  <a:fillRect l="-1055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B6BA5DB3-2BCE-4F2E-C702-4ECFC73DD913}"/>
              </a:ext>
            </a:extLst>
          </p:cNvPr>
          <p:cNvSpPr txBox="1"/>
          <p:nvPr/>
        </p:nvSpPr>
        <p:spPr>
          <a:xfrm>
            <a:off x="902208" y="3454759"/>
            <a:ext cx="9295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/>
              <a:t>Can be found </a:t>
            </a:r>
            <a:r>
              <a:rPr lang="zh-CN" altLang="en-US" sz="2400"/>
              <a:t>has </a:t>
            </a:r>
            <a:r>
              <a:rPr lang="en-US" altLang="zh-CN" sz="2400"/>
              <a:t>b</a:t>
            </a:r>
            <a:r>
              <a:rPr lang="en" altLang="zh-CN" sz="2400"/>
              <a:t>est linear unbiased estimator (BLUE)</a:t>
            </a:r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501922F-84AC-E16C-AF64-AEE9726E9953}"/>
                  </a:ext>
                </a:extLst>
              </p:cNvPr>
              <p:cNvSpPr txBox="1"/>
              <p:nvPr/>
            </p:nvSpPr>
            <p:spPr>
              <a:xfrm>
                <a:off x="2200655" y="5383062"/>
                <a:ext cx="76687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61B21"/>
                    </a:solidFill>
                    <a:latin typeface="Aptos Display"/>
                  </a:rPr>
                  <a:t>How can we get access to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sz="2400" b="1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2400" b="1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" altLang="zh-CN" sz="2400" b="1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" altLang="zh-CN" sz="2400" b="1">
                        <a:solidFill>
                          <a:srgbClr val="161B21"/>
                        </a:solidFill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lang="en-US" altLang="zh-CN" sz="2400" b="1" dirty="0">
                    <a:solidFill>
                      <a:srgbClr val="161B21"/>
                    </a:solidFill>
                    <a:latin typeface="Aptos Display"/>
                  </a:rPr>
                  <a:t>in our online training?</a:t>
                </a:r>
                <a:endParaRPr lang="zh-CN" altLang="en-US" sz="2400" b="1" dirty="0">
                  <a:solidFill>
                    <a:srgbClr val="161B21"/>
                  </a:solidFill>
                  <a:latin typeface="Aptos Display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501922F-84AC-E16C-AF64-AEE9726E9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655" y="5383062"/>
                <a:ext cx="7668768" cy="461665"/>
              </a:xfrm>
              <a:prstGeom prst="rect">
                <a:avLst/>
              </a:prstGeom>
              <a:blipFill>
                <a:blip r:embed="rId6"/>
                <a:stretch>
                  <a:fillRect l="-119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">
            <a:extLst>
              <a:ext uri="{FF2B5EF4-FFF2-40B4-BE49-F238E27FC236}">
                <a16:creationId xmlns:a16="http://schemas.microsoft.com/office/drawing/2014/main" id="{225DEDD1-D5F4-341C-BB59-C558A1F0B48A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819D3AAF-944B-0785-7E21-24DB5999A860}"/>
              </a:ext>
            </a:extLst>
          </p:cNvPr>
          <p:cNvSpPr txBox="1"/>
          <p:nvPr/>
        </p:nvSpPr>
        <p:spPr>
          <a:xfrm>
            <a:off x="475488" y="395532"/>
            <a:ext cx="11064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p:sp>
        <p:nvSpPr>
          <p:cNvPr id="14" name="日期占位符 13">
            <a:extLst>
              <a:ext uri="{FF2B5EF4-FFF2-40B4-BE49-F238E27FC236}">
                <a16:creationId xmlns:a16="http://schemas.microsoft.com/office/drawing/2014/main" id="{278660EE-1D24-41BF-6853-7F73CC0FB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9" name="页脚占位符 18">
            <a:extLst>
              <a:ext uri="{FF2B5EF4-FFF2-40B4-BE49-F238E27FC236}">
                <a16:creationId xmlns:a16="http://schemas.microsoft.com/office/drawing/2014/main" id="{AE09C76E-442A-99F2-B510-B9052372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336AFDB-F649-BDD8-75E3-EB9774DD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15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795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8640" y="841248"/>
                <a:ext cx="11331374" cy="5625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2500" b="1">
                    <a:solidFill>
                      <a:srgbClr val="161B21"/>
                    </a:solidFill>
                    <a:latin typeface="Aptos Display"/>
                  </a:rPr>
                  <a:t>Offline prompt signal: </a:t>
                </a:r>
                <a:r>
                  <a:rPr lang="en-US" sz="2500" b="1">
                    <a:solidFill>
                      <a:srgbClr val="161B21"/>
                    </a:solidFill>
                    <a:latin typeface="Aptos Display"/>
                  </a:rPr>
                  <a:t>Proposition 2 (Closed-form value under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500" b="1" i="1" smtClean="0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500" b="1" i="1" smtClean="0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altLang="zh-CN" sz="2500" b="1" i="1" smtClean="0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sub>
                      <m:sup>
                        <m:r>
                          <a:rPr lang="en-US" altLang="zh-CN" sz="2500" b="1" i="1" smtClean="0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500" b="1">
                    <a:solidFill>
                      <a:srgbClr val="161B21"/>
                    </a:solidFill>
                    <a:latin typeface="Aptos Display"/>
                  </a:rPr>
                  <a:t>)</a:t>
                </a:r>
                <a:endParaRPr sz="2500" b="1">
                  <a:solidFill>
                    <a:srgbClr val="161B21"/>
                  </a:solidFill>
                  <a:latin typeface="Aptos Display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841248"/>
                <a:ext cx="11331374" cy="562590"/>
              </a:xfrm>
              <a:prstGeom prst="rect">
                <a:avLst/>
              </a:prstGeom>
              <a:blipFill>
                <a:blip r:embed="rId3"/>
                <a:stretch>
                  <a:fillRect l="-861" t="-7609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66928" y="1390122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89960" y="3128911"/>
            <a:ext cx="3183924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63940" y="328970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2529"/>
                </a:solidFill>
                <a:latin typeface="Aptos"/>
              </a:rPr>
              <a:t>Why this is useful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1400" y="3727832"/>
            <a:ext cx="2986288" cy="248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2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9414D"/>
                </a:solidFill>
                <a:latin typeface="Aptos"/>
              </a:defRPr>
            </a:pPr>
            <a:r>
              <a:t>It approximates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Value</a:t>
            </a:r>
            <a:r>
              <a:rPr lang="zh-CN" altLang="en-US"/>
              <a:t> </a:t>
            </a:r>
            <a:r>
              <a:rPr lang="en-US" altLang="zh-CN"/>
              <a:t>form</a:t>
            </a:r>
            <a:r>
              <a:t> KL-regularized oracle value.</a:t>
            </a:r>
          </a:p>
          <a:p>
            <a:pPr marL="285750" indent="-285750">
              <a:lnSpc>
                <a:spcPct val="112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9414D"/>
                </a:solidFill>
                <a:latin typeface="Aptos"/>
              </a:defRPr>
            </a:pPr>
            <a:r>
              <a:t>The same offline cache can support different training stages</a:t>
            </a:r>
            <a:r>
              <a:rPr lang="en-US"/>
              <a:t> by changing </a:t>
            </a:r>
            <a:r>
              <a:rPr lang="el-GR" altLang="zh-CN"/>
              <a:t>β</a:t>
            </a:r>
            <a:r>
              <a:rPr lang="en-US" altLang="zh-CN"/>
              <a:t>.</a:t>
            </a:r>
            <a:endParaRPr/>
          </a:p>
          <a:p>
            <a:pPr marL="285750" indent="-285750">
              <a:lnSpc>
                <a:spcPct val="112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9414D"/>
                </a:solidFill>
                <a:latin typeface="Aptos"/>
              </a:defRPr>
            </a:pPr>
            <a:r>
              <a:t>Changing β does not require recollecting data.</a:t>
            </a:r>
          </a:p>
          <a:p>
            <a:pPr marL="285750" indent="-285750">
              <a:lnSpc>
                <a:spcPct val="112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9414D"/>
                </a:solidFill>
                <a:latin typeface="Aptos"/>
              </a:defRPr>
            </a:pPr>
            <a:r>
              <a:t>Hence the signal is practical and reusable.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E35E26-3CCB-34EC-EC5A-E59A9F189E47}"/>
              </a:ext>
            </a:extLst>
          </p:cNvPr>
          <p:cNvSpPr txBox="1"/>
          <p:nvPr/>
        </p:nvSpPr>
        <p:spPr>
          <a:xfrm>
            <a:off x="6584108" y="5896473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/>
          </a:p>
          <a:p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0B45C16-47EB-9192-2960-8D05C3852332}"/>
                  </a:ext>
                </a:extLst>
              </p:cNvPr>
              <p:cNvSpPr txBox="1"/>
              <p:nvPr/>
            </p:nvSpPr>
            <p:spPr>
              <a:xfrm>
                <a:off x="1968380" y="3853363"/>
                <a:ext cx="3632341" cy="4701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:=</m:t>
                      </m:r>
                      <m:sSub>
                        <m:sSub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∼</m:t>
                          </m:r>
                          <m:sSubSup>
                            <m:sSub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⋅∣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0B45C16-47EB-9192-2960-8D05C3852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380" y="3853363"/>
                <a:ext cx="3632341" cy="470193"/>
              </a:xfrm>
              <a:prstGeom prst="rect">
                <a:avLst/>
              </a:prstGeom>
              <a:blipFill>
                <a:blip r:embed="rId4"/>
                <a:stretch>
                  <a:fillRect l="-1678" b="-19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20CE190-4BE6-FA14-4D00-90CF549B6569}"/>
                  </a:ext>
                </a:extLst>
              </p:cNvPr>
              <p:cNvSpPr txBox="1"/>
              <p:nvPr/>
            </p:nvSpPr>
            <p:spPr>
              <a:xfrm>
                <a:off x="618116" y="3216824"/>
                <a:ext cx="6748272" cy="43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/>
                  <a:t>This is the </a:t>
                </a:r>
                <a:r>
                  <a:rPr lang="en-US" altLang="zh-CN" sz="2000"/>
                  <a:t>closed form value under </a:t>
                </a:r>
                <a:r>
                  <a:rPr lang="en-US" altLang="zh-CN" sz="2000" b="1">
                    <a:solidFill>
                      <a:srgbClr val="161B2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  <m:sup>
                        <m:r>
                          <a:rPr lang="en-US" altLang="zh-CN" sz="2000" b="0" i="1">
                            <a:solidFill>
                              <a:srgbClr val="161B2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sz="2000"/>
                  <a:t> </a:t>
                </a:r>
                <a:endParaRPr lang="zh-CN" altLang="en-US" sz="200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20CE190-4BE6-FA14-4D00-90CF549B6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16" y="3216824"/>
                <a:ext cx="6748272" cy="439992"/>
              </a:xfrm>
              <a:prstGeom prst="rect">
                <a:avLst/>
              </a:prstGeom>
              <a:blipFill>
                <a:blip r:embed="rId5"/>
                <a:stretch>
                  <a:fillRect l="-903" t="-694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4D33F88-0663-8EA1-52A1-AB5ED3F6A94D}"/>
                  </a:ext>
                </a:extLst>
              </p:cNvPr>
              <p:cNvSpPr txBox="1"/>
              <p:nvPr/>
            </p:nvSpPr>
            <p:spPr>
              <a:xfrm>
                <a:off x="618116" y="4601730"/>
                <a:ext cx="729085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/>
                  <a:t>and</a:t>
                </a:r>
                <a:r>
                  <a:rPr lang="zh-CN" altLang="en-US" sz="2000"/>
                  <a:t> is </a:t>
                </a:r>
                <a:r>
                  <a:rPr lang="zh-CN" altLang="zh-CN" sz="2000"/>
                  <a:t>deriv</a:t>
                </a:r>
                <a:r>
                  <a:rPr lang="en-US" altLang="zh-CN" sz="2000"/>
                  <a:t>d</a:t>
                </a:r>
                <a:r>
                  <a:rPr lang="zh-CN" altLang="en-US" sz="2000"/>
                  <a:t> </a:t>
                </a:r>
                <a:r>
                  <a:rPr lang="en-US" altLang="zh-CN" sz="2000"/>
                  <a:t>from</a:t>
                </a:r>
                <a:r>
                  <a:rPr lang="zh-CN" altLang="en-US" sz="2000"/>
                  <a:t> optimal value of the 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000"/>
                  <a:t>-KL-regularized objective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4D33F88-0663-8EA1-52A1-AB5ED3F6A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16" y="4601730"/>
                <a:ext cx="7290850" cy="400110"/>
              </a:xfrm>
              <a:prstGeom prst="rect">
                <a:avLst/>
              </a:prstGeom>
              <a:blipFill>
                <a:blip r:embed="rId6"/>
                <a:stretch>
                  <a:fillRect l="-836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102CF94-D1EA-D757-7A79-86007A7951EB}"/>
                  </a:ext>
                </a:extLst>
              </p:cNvPr>
              <p:cNvSpPr txBox="1"/>
              <p:nvPr/>
            </p:nvSpPr>
            <p:spPr>
              <a:xfrm>
                <a:off x="269313" y="1781513"/>
                <a:ext cx="11568029" cy="1083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800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0">
                                      <a:latin typeface="Cambria Math" panose="02040503050406030204" pitchFamily="18" charset="0"/>
                                    </a:rPr>
                                    <m:t>⋅∣</m:t>
                                  </m:r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</m:s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800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0">
                                      <a:latin typeface="Cambria Math" panose="02040503050406030204" pitchFamily="18" charset="0"/>
                                    </a:rPr>
                                    <m:t>⋅∣</m:t>
                                  </m:r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</m:s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102CF94-D1EA-D757-7A79-86007A795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13" y="1781513"/>
                <a:ext cx="11568029" cy="1083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D3F2652-E245-99A4-72E8-53058EA329A1}"/>
                  </a:ext>
                </a:extLst>
              </p:cNvPr>
              <p:cNvSpPr txBox="1"/>
              <p:nvPr/>
            </p:nvSpPr>
            <p:spPr>
              <a:xfrm>
                <a:off x="475488" y="5218262"/>
                <a:ext cx="8461958" cy="568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bSup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000" i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000" i="0"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  <m:li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lim>
                      </m:limLow>
                      <m:d>
                        <m:dPr>
                          <m:begChr m:val="{"/>
                          <m:endChr m:val="}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⋅∣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zh-CN" altLang="en-US" sz="2000" i="0">
                              <a:latin typeface="Cambria Math" panose="02040503050406030204" pitchFamily="18" charset="0"/>
                            </a:rPr>
                            <m:t>KL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⋅∣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⋅∣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D3F2652-E245-99A4-72E8-53058EA32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5218262"/>
                <a:ext cx="8461958" cy="5688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1">
            <a:extLst>
              <a:ext uri="{FF2B5EF4-FFF2-40B4-BE49-F238E27FC236}">
                <a16:creationId xmlns:a16="http://schemas.microsoft.com/office/drawing/2014/main" id="{E041D385-E3E1-2F5E-61A3-DC28E8D3A079}"/>
              </a:ext>
            </a:extLst>
          </p:cNvPr>
          <p:cNvSpPr/>
          <p:nvPr/>
        </p:nvSpPr>
        <p:spPr>
          <a:xfrm>
            <a:off x="548640" y="335420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879B1DBB-7BD3-2627-B8F5-D4CD26B21FE2}"/>
              </a:ext>
            </a:extLst>
          </p:cNvPr>
          <p:cNvSpPr txBox="1"/>
          <p:nvPr/>
        </p:nvSpPr>
        <p:spPr>
          <a:xfrm>
            <a:off x="649224" y="381140"/>
            <a:ext cx="777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BAS</a:t>
            </a:r>
          </a:p>
        </p:txBody>
      </p:sp>
      <p:sp>
        <p:nvSpPr>
          <p:cNvPr id="27" name="Rounded Rectangle 1">
            <a:extLst>
              <a:ext uri="{FF2B5EF4-FFF2-40B4-BE49-F238E27FC236}">
                <a16:creationId xmlns:a16="http://schemas.microsoft.com/office/drawing/2014/main" id="{BFD151A9-072F-E017-C0A8-92EBFDBAF8B6}"/>
              </a:ext>
            </a:extLst>
          </p:cNvPr>
          <p:cNvSpPr/>
          <p:nvPr/>
        </p:nvSpPr>
        <p:spPr>
          <a:xfrm>
            <a:off x="548640" y="335420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">
            <a:extLst>
              <a:ext uri="{FF2B5EF4-FFF2-40B4-BE49-F238E27FC236}">
                <a16:creationId xmlns:a16="http://schemas.microsoft.com/office/drawing/2014/main" id="{E43F2BD7-8471-B008-50B5-FA7AF5111F2A}"/>
              </a:ext>
            </a:extLst>
          </p:cNvPr>
          <p:cNvSpPr txBox="1"/>
          <p:nvPr/>
        </p:nvSpPr>
        <p:spPr>
          <a:xfrm>
            <a:off x="475488" y="346904"/>
            <a:ext cx="11064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F1345BB2-0FC6-6C30-B2AB-9AC6CCA0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DB6F1244-C412-287E-F98A-E6E918932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D4004933-950C-5B02-C954-371C3206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16</a:t>
            </a:fld>
            <a:endParaRPr lang="en-US"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75787-FD2D-790B-8046-ECA873FFA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459AEBA-D596-3791-E7E3-37762EEE96AD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8C6DB-A76B-102C-D4D4-6A80B899DCEC}"/>
              </a:ext>
            </a:extLst>
          </p:cNvPr>
          <p:cNvSpPr txBox="1"/>
          <p:nvPr/>
        </p:nvSpPr>
        <p:spPr>
          <a:xfrm>
            <a:off x="475488" y="395532"/>
            <a:ext cx="11064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0306FA-F56E-8B22-1EE3-B06CAB7BB9F7}"/>
                  </a:ext>
                </a:extLst>
              </p:cNvPr>
              <p:cNvSpPr txBox="1"/>
              <p:nvPr/>
            </p:nvSpPr>
            <p:spPr>
              <a:xfrm>
                <a:off x="548640" y="841248"/>
                <a:ext cx="8046720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500" b="1">
                    <a:solidFill>
                      <a:srgbClr val="161B21"/>
                    </a:solidFill>
                    <a:latin typeface="Aptos Display"/>
                  </a:rPr>
                  <a:t>Online calibration: How to select </a:t>
                </a:r>
                <a14:m>
                  <m:oMath xmlns:m="http://schemas.openxmlformats.org/officeDocument/2006/math">
                    <m:r>
                      <a:rPr lang="en-US" sz="2500" b="1" i="1" smtClean="0">
                        <a:solidFill>
                          <a:srgbClr val="161B2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2500" b="1">
                    <a:solidFill>
                      <a:srgbClr val="161B21"/>
                    </a:solidFill>
                    <a:latin typeface="Aptos Display"/>
                  </a:rPr>
                  <a:t> during online training?</a:t>
                </a:r>
                <a:endParaRPr sz="2500" b="1">
                  <a:solidFill>
                    <a:srgbClr val="161B21"/>
                  </a:solidFill>
                  <a:latin typeface="Aptos Display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0306FA-F56E-8B22-1EE3-B06CAB7BB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841248"/>
                <a:ext cx="8046720" cy="477054"/>
              </a:xfrm>
              <a:prstGeom prst="rect">
                <a:avLst/>
              </a:prstGeom>
              <a:blipFill>
                <a:blip r:embed="rId3"/>
                <a:stretch>
                  <a:fillRect l="-1212" t="-8974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23F2D701-9CBC-25A2-D00E-E906879376E4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7E39B4B-1DCF-5F9E-CA89-FFD4415F30BF}"/>
              </a:ext>
            </a:extLst>
          </p:cNvPr>
          <p:cNvSpPr txBox="1"/>
          <p:nvPr/>
        </p:nvSpPr>
        <p:spPr>
          <a:xfrm>
            <a:off x="6584108" y="5896473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/>
          </a:p>
          <a:p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535A9CE-4CA5-4939-12D6-6941582C473E}"/>
                  </a:ext>
                </a:extLst>
              </p:cNvPr>
              <p:cNvSpPr txBox="1"/>
              <p:nvPr/>
            </p:nvSpPr>
            <p:spPr>
              <a:xfrm>
                <a:off x="2158065" y="4383494"/>
                <a:ext cx="8046720" cy="1033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zh-CN" altLang="en-US" sz="2400" i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𝔹</m:t>
                          </m:r>
                        </m:lim>
                      </m:limLow>
                      <m:f>
                        <m:fPr>
                          <m:ctrlPr>
                            <a:rPr lang="zh-CN" altLang="en-US" sz="24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𝓉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𝓉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kumimoji="1"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kumimoji="1"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kumimoji="1"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acc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535A9CE-4CA5-4939-12D6-6941582C4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065" y="4383494"/>
                <a:ext cx="8046720" cy="10337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 84">
            <a:extLst>
              <a:ext uri="{FF2B5EF4-FFF2-40B4-BE49-F238E27FC236}">
                <a16:creationId xmlns:a16="http://schemas.microsoft.com/office/drawing/2014/main" id="{905B431A-0E14-36B5-10A4-160CCF8228E8}"/>
              </a:ext>
            </a:extLst>
          </p:cNvPr>
          <p:cNvSpPr/>
          <p:nvPr/>
        </p:nvSpPr>
        <p:spPr>
          <a:xfrm rot="10800000">
            <a:off x="3733890" y="3343759"/>
            <a:ext cx="4959613" cy="87647"/>
          </a:xfrm>
          <a:custGeom>
            <a:avLst/>
            <a:gdLst>
              <a:gd name="csX0" fmla="*/ 0 w 656528"/>
              <a:gd name="csY0" fmla="*/ 0 h 6560"/>
              <a:gd name="csX1" fmla="*/ 656528 w 656528"/>
              <a:gd name="csY1" fmla="*/ 0 h 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56528" h="6560">
                <a:moveTo>
                  <a:pt x="0" y="0"/>
                </a:moveTo>
                <a:lnTo>
                  <a:pt x="656528" y="0"/>
                </a:lnTo>
              </a:path>
            </a:pathLst>
          </a:custGeom>
          <a:ln w="136525" cap="rnd">
            <a:gradFill flip="none" rotWithShape="1">
              <a:gsLst>
                <a:gs pos="0">
                  <a:srgbClr val="2E62A2"/>
                </a:gs>
                <a:gs pos="64000">
                  <a:srgbClr val="D76B1E"/>
                </a:gs>
              </a:gsLst>
              <a:lin ang="10800000" scaled="1"/>
              <a:tileRect/>
            </a:gradFill>
            <a:prstDash val="solid"/>
            <a:miter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86">
            <a:extLst>
              <a:ext uri="{FF2B5EF4-FFF2-40B4-BE49-F238E27FC236}">
                <a16:creationId xmlns:a16="http://schemas.microsoft.com/office/drawing/2014/main" id="{E44B5840-FA58-A9B7-D402-C4B7B96F0698}"/>
              </a:ext>
            </a:extLst>
          </p:cNvPr>
          <p:cNvSpPr/>
          <p:nvPr/>
        </p:nvSpPr>
        <p:spPr>
          <a:xfrm>
            <a:off x="6400446" y="3192149"/>
            <a:ext cx="496259" cy="531078"/>
          </a:xfrm>
          <a:prstGeom prst="ellipse">
            <a:avLst/>
          </a:prstGeom>
          <a:solidFill>
            <a:srgbClr val="FFD6B0"/>
          </a:solidFill>
          <a:ln w="12700" cap="flat">
            <a:solidFill>
              <a:srgbClr val="E651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87">
            <a:extLst>
              <a:ext uri="{FF2B5EF4-FFF2-40B4-BE49-F238E27FC236}">
                <a16:creationId xmlns:a16="http://schemas.microsoft.com/office/drawing/2014/main" id="{F75FAFF9-4ACC-5053-E73A-A9904EA13ECC}"/>
              </a:ext>
            </a:extLst>
          </p:cNvPr>
          <p:cNvSpPr txBox="1"/>
          <p:nvPr/>
        </p:nvSpPr>
        <p:spPr>
          <a:xfrm>
            <a:off x="3515807" y="3601236"/>
            <a:ext cx="6281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b="1">
                <a:ln/>
                <a:solidFill>
                  <a:srgbClr val="222222"/>
                </a:solidFill>
                <a:latin typeface="Arial"/>
                <a:cs typeface="Arial"/>
                <a:sym typeface="Arial"/>
                <a:rtl val="0"/>
              </a:rPr>
              <a:t>high</a:t>
            </a:r>
            <a:r>
              <a:rPr lang="en-US" sz="1100" b="1" spc="0" baseline="0">
                <a:ln/>
                <a:solidFill>
                  <a:srgbClr val="222222"/>
                </a:solidFill>
                <a:latin typeface="Arial"/>
                <a:cs typeface="Arial"/>
                <a:sym typeface="Arial"/>
                <a:rtl val="0"/>
              </a:rPr>
              <a:t> (early)</a:t>
            </a:r>
          </a:p>
        </p:txBody>
      </p:sp>
      <p:sp>
        <p:nvSpPr>
          <p:cNvPr id="16" name="TextBox 88">
            <a:extLst>
              <a:ext uri="{FF2B5EF4-FFF2-40B4-BE49-F238E27FC236}">
                <a16:creationId xmlns:a16="http://schemas.microsoft.com/office/drawing/2014/main" id="{8063FCA0-984A-E49A-DF58-39A9276C57E2}"/>
              </a:ext>
            </a:extLst>
          </p:cNvPr>
          <p:cNvSpPr txBox="1"/>
          <p:nvPr/>
        </p:nvSpPr>
        <p:spPr>
          <a:xfrm>
            <a:off x="8184784" y="3723227"/>
            <a:ext cx="6227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b="1">
                <a:ln/>
                <a:solidFill>
                  <a:srgbClr val="222222"/>
                </a:solidFill>
                <a:latin typeface="Arial"/>
                <a:cs typeface="Arial"/>
                <a:sym typeface="Arial"/>
                <a:rtl val="0"/>
              </a:rPr>
              <a:t>low</a:t>
            </a:r>
            <a:r>
              <a:rPr lang="en-US" sz="1100" b="1" spc="0" baseline="0">
                <a:ln/>
                <a:solidFill>
                  <a:srgbClr val="222222"/>
                </a:solidFill>
                <a:latin typeface="Arial"/>
                <a:cs typeface="Arial"/>
                <a:sym typeface="Arial"/>
                <a:rtl val="0"/>
              </a:rPr>
              <a:t> (late)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303">
                <a:extLst>
                  <a:ext uri="{FF2B5EF4-FFF2-40B4-BE49-F238E27FC236}">
                    <a16:creationId xmlns:a16="http://schemas.microsoft.com/office/drawing/2014/main" id="{4751A3ED-C038-24DC-4AC0-57F557082FBE}"/>
                  </a:ext>
                </a:extLst>
              </p:cNvPr>
              <p:cNvSpPr txBox="1"/>
              <p:nvPr/>
            </p:nvSpPr>
            <p:spPr>
              <a:xfrm>
                <a:off x="6501419" y="2758064"/>
                <a:ext cx="2943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303">
                <a:extLst>
                  <a:ext uri="{FF2B5EF4-FFF2-40B4-BE49-F238E27FC236}">
                    <a16:creationId xmlns:a16="http://schemas.microsoft.com/office/drawing/2014/main" id="{4751A3ED-C038-24DC-4AC0-57F557082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419" y="2758064"/>
                <a:ext cx="294311" cy="307777"/>
              </a:xfrm>
              <a:prstGeom prst="rect">
                <a:avLst/>
              </a:prstGeom>
              <a:blipFill>
                <a:blip r:embed="rId5"/>
                <a:stretch>
                  <a:fillRect l="-31250" r="-41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">
            <a:extLst>
              <a:ext uri="{FF2B5EF4-FFF2-40B4-BE49-F238E27FC236}">
                <a16:creationId xmlns:a16="http://schemas.microsoft.com/office/drawing/2014/main" id="{E953B90A-E764-455C-74E3-DF0E92DCB44B}"/>
              </a:ext>
            </a:extLst>
          </p:cNvPr>
          <p:cNvSpPr/>
          <p:nvPr/>
        </p:nvSpPr>
        <p:spPr>
          <a:xfrm>
            <a:off x="910267" y="1799422"/>
            <a:ext cx="2265376" cy="3532902"/>
          </a:xfrm>
          <a:prstGeom prst="roundRect">
            <a:avLst>
              <a:gd name="adj" fmla="val 9114"/>
            </a:avLst>
          </a:prstGeom>
          <a:solidFill>
            <a:srgbClr val="F9FBFF"/>
          </a:solidFill>
          <a:ln w="13970">
            <a:solidFill>
              <a:srgbClr val="8BB1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25">
            <a:extLst>
              <a:ext uri="{FF2B5EF4-FFF2-40B4-BE49-F238E27FC236}">
                <a16:creationId xmlns:a16="http://schemas.microsoft.com/office/drawing/2014/main" id="{77F78891-AF37-38E2-861F-09C49B0415CD}"/>
              </a:ext>
            </a:extLst>
          </p:cNvPr>
          <p:cNvSpPr/>
          <p:nvPr/>
        </p:nvSpPr>
        <p:spPr>
          <a:xfrm>
            <a:off x="9187207" y="1799422"/>
            <a:ext cx="2276854" cy="3532902"/>
          </a:xfrm>
          <a:prstGeom prst="roundRect">
            <a:avLst>
              <a:gd name="adj" fmla="val 9084"/>
            </a:avLst>
          </a:prstGeom>
          <a:solidFill>
            <a:srgbClr val="FFF8F2"/>
          </a:solidFill>
          <a:ln w="13970">
            <a:solidFill>
              <a:srgbClr val="D76B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6">
            <a:extLst>
              <a:ext uri="{FF2B5EF4-FFF2-40B4-BE49-F238E27FC236}">
                <a16:creationId xmlns:a16="http://schemas.microsoft.com/office/drawing/2014/main" id="{679FF919-4D59-7EFA-3E23-FAE5190BABC3}"/>
              </a:ext>
            </a:extLst>
          </p:cNvPr>
          <p:cNvSpPr/>
          <p:nvPr/>
        </p:nvSpPr>
        <p:spPr>
          <a:xfrm>
            <a:off x="9593607" y="1913267"/>
            <a:ext cx="1464053" cy="372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b="1">
                <a:solidFill>
                  <a:srgbClr val="D76B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Converged</a:t>
            </a:r>
            <a:endParaRPr lang="en-US" sz="240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46574DEB-692A-E0C2-C40B-B03DDD75524C}"/>
              </a:ext>
            </a:extLst>
          </p:cNvPr>
          <p:cNvSpPr/>
          <p:nvPr/>
        </p:nvSpPr>
        <p:spPr>
          <a:xfrm>
            <a:off x="1221212" y="4773825"/>
            <a:ext cx="1729403" cy="2889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(KL dominates)</a:t>
            </a:r>
            <a:endParaRPr lang="en-US" b="1"/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09CC433D-8D23-4026-BD5D-6115FE9104FE}"/>
              </a:ext>
            </a:extLst>
          </p:cNvPr>
          <p:cNvSpPr/>
          <p:nvPr/>
        </p:nvSpPr>
        <p:spPr>
          <a:xfrm>
            <a:off x="1492811" y="4373970"/>
            <a:ext cx="1099653" cy="30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2000" b="1" i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β → </a:t>
            </a:r>
            <a:r>
              <a:rPr lang="en-US" altLang="zh-CN" sz="2000" b="1" i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∞</a:t>
            </a:r>
            <a:endParaRPr lang="en-US" sz="2000" b="1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CD1AD7AF-D07D-4032-58D6-9F6BD85BA5EB}"/>
              </a:ext>
            </a:extLst>
          </p:cNvPr>
          <p:cNvSpPr/>
          <p:nvPr/>
        </p:nvSpPr>
        <p:spPr>
          <a:xfrm>
            <a:off x="9569140" y="4279086"/>
            <a:ext cx="1464052" cy="493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000" b="1" i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β = </a:t>
            </a:r>
            <a:r>
              <a:rPr lang="en-US" altLang="zh-CN" sz="2000" b="1" i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000" b="1"/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333447A4-C772-4FDF-F69E-25BE31480517}"/>
              </a:ext>
            </a:extLst>
          </p:cNvPr>
          <p:cNvSpPr/>
          <p:nvPr/>
        </p:nvSpPr>
        <p:spPr>
          <a:xfrm>
            <a:off x="9497936" y="4661999"/>
            <a:ext cx="1606459" cy="5125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(KL vanishes)</a:t>
            </a:r>
            <a:endParaRPr lang="en-US" b="1"/>
          </a:p>
        </p:txBody>
      </p:sp>
      <p:pic>
        <p:nvPicPr>
          <p:cNvPr id="25" name="Graphic 657">
            <a:extLst>
              <a:ext uri="{FF2B5EF4-FFF2-40B4-BE49-F238E27FC236}">
                <a16:creationId xmlns:a16="http://schemas.microsoft.com/office/drawing/2014/main" id="{6A1BE9FA-74BC-E028-89C1-6B8EC353A8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1212" y="2650853"/>
            <a:ext cx="1583769" cy="1521250"/>
          </a:xfrm>
          <a:prstGeom prst="rect">
            <a:avLst/>
          </a:prstGeom>
        </p:spPr>
      </p:pic>
      <p:pic>
        <p:nvPicPr>
          <p:cNvPr id="26" name="Graphic 658">
            <a:extLst>
              <a:ext uri="{FF2B5EF4-FFF2-40B4-BE49-F238E27FC236}">
                <a16:creationId xmlns:a16="http://schemas.microsoft.com/office/drawing/2014/main" id="{D54AE483-F6B5-54E2-75D2-99652285C9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69141" y="2722362"/>
            <a:ext cx="1464053" cy="1406261"/>
          </a:xfrm>
          <a:prstGeom prst="rect">
            <a:avLst/>
          </a:prstGeom>
        </p:spPr>
      </p:pic>
      <p:sp>
        <p:nvSpPr>
          <p:cNvPr id="27" name="4-point Star 663">
            <a:extLst>
              <a:ext uri="{FF2B5EF4-FFF2-40B4-BE49-F238E27FC236}">
                <a16:creationId xmlns:a16="http://schemas.microsoft.com/office/drawing/2014/main" id="{FABDECD5-B78C-E24B-F197-645B5735149B}"/>
              </a:ext>
            </a:extLst>
          </p:cNvPr>
          <p:cNvSpPr/>
          <p:nvPr/>
        </p:nvSpPr>
        <p:spPr>
          <a:xfrm>
            <a:off x="10510932" y="2425239"/>
            <a:ext cx="432844" cy="529664"/>
          </a:xfrm>
          <a:prstGeom prst="star4">
            <a:avLst>
              <a:gd name="adj" fmla="val 15083"/>
            </a:avLst>
          </a:prstGeom>
          <a:solidFill>
            <a:srgbClr val="74B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4-point Star 665">
            <a:extLst>
              <a:ext uri="{FF2B5EF4-FFF2-40B4-BE49-F238E27FC236}">
                <a16:creationId xmlns:a16="http://schemas.microsoft.com/office/drawing/2014/main" id="{C78B95F9-8669-45DF-09D9-70FB0F78C663}"/>
              </a:ext>
            </a:extLst>
          </p:cNvPr>
          <p:cNvSpPr/>
          <p:nvPr/>
        </p:nvSpPr>
        <p:spPr>
          <a:xfrm>
            <a:off x="10830790" y="2814094"/>
            <a:ext cx="310502" cy="529664"/>
          </a:xfrm>
          <a:prstGeom prst="star4">
            <a:avLst>
              <a:gd name="adj" fmla="val 15083"/>
            </a:avLst>
          </a:prstGeom>
          <a:solidFill>
            <a:srgbClr val="74B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258EBD55-40F2-514F-D6B1-F5F75745EA6B}"/>
              </a:ext>
            </a:extLst>
          </p:cNvPr>
          <p:cNvSpPr/>
          <p:nvPr/>
        </p:nvSpPr>
        <p:spPr>
          <a:xfrm>
            <a:off x="1304436" y="2022709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>
                <a:solidFill>
                  <a:srgbClr val="8BB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2400">
              <a:solidFill>
                <a:srgbClr val="8BB1E0"/>
              </a:solidFill>
            </a:endParaRPr>
          </a:p>
        </p:txBody>
      </p:sp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A589CE16-C665-AE96-A025-46BAC4F1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29" name="页脚占位符 28">
            <a:extLst>
              <a:ext uri="{FF2B5EF4-FFF2-40B4-BE49-F238E27FC236}">
                <a16:creationId xmlns:a16="http://schemas.microsoft.com/office/drawing/2014/main" id="{13D0C051-F91F-5350-0F39-1F477166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30" name="灯片编号占位符 29">
            <a:extLst>
              <a:ext uri="{FF2B5EF4-FFF2-40B4-BE49-F238E27FC236}">
                <a16:creationId xmlns:a16="http://schemas.microsoft.com/office/drawing/2014/main" id="{AFAD0F8E-D14A-82E5-B67C-81F2F5F6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17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74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906 -0.00047 L 0.1112 0.0004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1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856" y="413820"/>
            <a:ext cx="13136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61B21"/>
                </a:solidFill>
                <a:latin typeface="Aptos Display"/>
              </a:rPr>
              <a:t>Batchwise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2CBDE1B-FCB9-C87C-450B-B1B271E9C764}"/>
                  </a:ext>
                </a:extLst>
              </p:cNvPr>
              <p:cNvSpPr txBox="1"/>
              <p:nvPr/>
            </p:nvSpPr>
            <p:spPr>
              <a:xfrm>
                <a:off x="3310128" y="2389632"/>
                <a:ext cx="6543971" cy="1067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e>
                      </m:d>
                      <m:r>
                        <a:rPr kumimoji="1" lang="en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  <m:t> </m:t>
                          </m:r>
                          <m:acc>
                            <m:accPr>
                              <m:chr m:val="̂"/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𝓉</m:t>
                                  </m:r>
                                </m:sub>
                              </m:sSub>
                            </m:sub>
                            <m:sup/>
                            <m:e>
                              <m:acc>
                                <m:accPr>
                                  <m:chr m:val="̂"/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acc>
                              <m:sSup>
                                <m:sSup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kumimoji="1" lang="en" altLang="zh-CN" sz="2800" i="1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kumimoji="1" lang="en" altLang="zh-CN" sz="28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" altLang="zh-CN" sz="2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" altLang="zh-CN" sz="2800" i="1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kumimoji="1" lang="en" altLang="zh-CN" sz="2800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  <m:t>𝓉</m:t>
                          </m:r>
                        </m:sub>
                      </m:sSub>
                      <m:r>
                        <a:rPr kumimoji="1" lang="en" altLang="zh-CN" sz="28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2CBDE1B-FCB9-C87C-450B-B1B271E9C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128" y="2389632"/>
                <a:ext cx="6543971" cy="1067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9728C31-625E-2871-2E67-D4F1D29188EA}"/>
                  </a:ext>
                </a:extLst>
              </p:cNvPr>
              <p:cNvSpPr txBox="1"/>
              <p:nvPr/>
            </p:nvSpPr>
            <p:spPr>
              <a:xfrm>
                <a:off x="3524655" y="4534572"/>
                <a:ext cx="5142690" cy="1216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acc>
                      <m:r>
                        <a:rPr kumimoji="1" lang="en" altLang="zh-CN" sz="28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e>
                      </m:acc>
                      <m:d>
                        <m:dPr>
                          <m:ctrlP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1" lang="en" altLang="zh-CN" sz="2800" i="1"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ctrlPr>
                            <a:rPr kumimoji="1" lang="en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𝓉</m:t>
                                  </m:r>
                                </m:sub>
                              </m:sSub>
                            </m:sub>
                            <m:sup/>
                            <m:e>
                              <m:acc>
                                <m:accPr>
                                  <m:chr m:val="̂"/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acc>
                                <m:accPr>
                                  <m:chr m:val="̂"/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acc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kumimoji="1" lang="en" altLang="zh-CN" sz="28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𝓉</m:t>
                                  </m:r>
                                </m:sub>
                              </m:sSub>
                            </m:sub>
                            <m:sup/>
                            <m:e>
                              <m:acc>
                                <m:accPr>
                                  <m:chr m:val="̂"/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acc>
                              <m:sSup>
                                <m:sSupPr>
                                  <m:ctrlP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1" lang="en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kumimoji="1" lang="en" altLang="zh-CN" sz="28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9728C31-625E-2871-2E67-D4F1D2918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655" y="4534572"/>
                <a:ext cx="5142690" cy="1216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B943BC93-8D5A-9C06-5134-BBF2BB412185}"/>
              </a:ext>
            </a:extLst>
          </p:cNvPr>
          <p:cNvSpPr txBox="1"/>
          <p:nvPr/>
        </p:nvSpPr>
        <p:spPr>
          <a:xfrm>
            <a:off x="507090" y="172212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/>
              <a:t>C</a:t>
            </a:r>
            <a:r>
              <a:rPr lang="zh-CN" altLang="en-US" sz="2000"/>
              <a:t>ross-prompt information borrowing coefficient</a:t>
            </a:r>
            <a:r>
              <a:rPr lang="en-US" altLang="zh-CN" sz="2000"/>
              <a:t>:</a:t>
            </a:r>
            <a:endParaRPr lang="zh-CN" altLang="en-US" sz="20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4511289-56A1-F6E2-AFFF-2F815767D473}"/>
              </a:ext>
            </a:extLst>
          </p:cNvPr>
          <p:cNvSpPr txBox="1"/>
          <p:nvPr/>
        </p:nvSpPr>
        <p:spPr>
          <a:xfrm>
            <a:off x="548640" y="365276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/>
              <a:t>Baseline:</a:t>
            </a:r>
            <a:endParaRPr lang="zh-CN" altLang="en-US" sz="2000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562AC7A8-A3CD-1FDC-DF13-64A5E012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084B2EB-F4C4-E337-B3CD-B019B313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A9AD1713-71B2-B1A1-A840-A7D37E92D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18</a:t>
            </a:fld>
            <a:endParaRPr lang="en-US"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322E1-B49A-DEF0-63A8-82F53E30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B0675D-B6E8-FC6C-00F6-52DE6335F05F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FED16C-3315-7AD6-40E3-EDAECC7A01EE}"/>
              </a:ext>
            </a:extLst>
          </p:cNvPr>
          <p:cNvSpPr txBox="1"/>
          <p:nvPr/>
        </p:nvSpPr>
        <p:spPr>
          <a:xfrm>
            <a:off x="371856" y="413820"/>
            <a:ext cx="13136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683AD-803B-4A4E-BAD1-FA2306875CB8}"/>
              </a:ext>
            </a:extLst>
          </p:cNvPr>
          <p:cNvSpPr txBox="1"/>
          <p:nvPr/>
        </p:nvSpPr>
        <p:spPr>
          <a:xfrm>
            <a:off x="548640" y="841248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>
                <a:latin typeface="Aptos"/>
              </a:rPr>
              <a:t>Interpretation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28FB71-94FC-1D34-3C56-DBCCA69CDFE8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6EDC3B6-5233-A2E6-AFCC-F7F174407A86}"/>
                  </a:ext>
                </a:extLst>
              </p:cNvPr>
              <p:cNvSpPr txBox="1"/>
              <p:nvPr/>
            </p:nvSpPr>
            <p:spPr>
              <a:xfrm>
                <a:off x="566928" y="1538589"/>
                <a:ext cx="4382033" cy="1042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acc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e>
                      </m:acc>
                      <m:d>
                        <m:dPr>
                          <m:ctrl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ctrlPr>
                            <a:rPr kumimoji="1" lang="e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𝓉</m:t>
                                  </m:r>
                                </m:sub>
                              </m:sSub>
                            </m:sub>
                            <m:sup/>
                            <m:e>
                              <m:acc>
                                <m:accPr>
                                  <m:chr m:val="̂"/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acc>
                                <m:accPr>
                                  <m:chr m:val="̂"/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acc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kumimoji="1" lang="en" altLang="zh-CN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𝓉</m:t>
                                  </m:r>
                                </m:sub>
                              </m:sSub>
                            </m:sub>
                            <m:sup/>
                            <m:e>
                              <m:acc>
                                <m:accPr>
                                  <m:chr m:val="̂"/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acc>
                              <m:sSup>
                                <m:sSupPr>
                                  <m:ctrlP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1" lang="en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kumimoji="1" lang="en" altLang="zh-CN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6EDC3B6-5233-A2E6-AFCC-F7F174407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1538589"/>
                <a:ext cx="4382033" cy="10424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CCD2BE-364B-872F-E342-A38A7003D4AC}"/>
                  </a:ext>
                </a:extLst>
              </p:cNvPr>
              <p:cNvSpPr txBox="1"/>
              <p:nvPr/>
            </p:nvSpPr>
            <p:spPr>
              <a:xfrm>
                <a:off x="6096000" y="1561064"/>
                <a:ext cx="5847242" cy="9975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1" lang="zh-CN" altLang="en-US" sz="2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zh-CN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acc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kumimoji="1" lang="zh-CN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 smtClean="0">
                                  <a:latin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kumimoji="1" lang="zh-CN" altLang="en-US" sz="2400" i="1" smtClean="0">
                                  <a:latin typeface="Cambria Math" panose="02040503050406030204" pitchFamily="18" charset="0"/>
                                </a:rPr>
                                <m:t>𝓉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ctrlPr>
                                <a:rPr kumimoji="1" lang="zh-CN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acc>
                                  <m:sSup>
                                    <m:sSupPr>
                                      <m:ctrlP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  <m:t>ℎ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  <m:t>ℬ</m:t>
                                          </m:r>
                                        </m:e>
                                        <m:sub>
                                          <m: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  <m:t>𝓉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1"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zh-CN" alt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zh-CN" alt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kumimoji="1" lang="zh-CN" alt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zh-CN" alt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zh-CN" alt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kumimoji="1"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kumimoji="1" lang="zh-CN" alt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kumimoji="1" lang="zh-CN" alt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zh-CN" alt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zh-CN" alt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kumimoji="1"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kumimoji="1" lang="zh-CN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acc>
                                    <m:accPr>
                                      <m:chr m:val="̂"/>
                                      <m:ctrlP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zh-CN" alt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zh-CN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  <m:t>ℎ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sSubSup>
                                <m:sSubSupPr>
                                  <m:ctrlPr>
                                    <a:rPr kumimoji="1" lang="zh-CN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1" lang="zh-CN" altLang="en-US" sz="240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zh-CN" altLang="en-US" sz="240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nary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CCD2BE-364B-872F-E342-A38A7003D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61064"/>
                <a:ext cx="5847242" cy="997517"/>
              </a:xfrm>
              <a:prstGeom prst="rect">
                <a:avLst/>
              </a:prstGeom>
              <a:blipFill>
                <a:blip r:embed="rId4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右箭头 13">
            <a:extLst>
              <a:ext uri="{FF2B5EF4-FFF2-40B4-BE49-F238E27FC236}">
                <a16:creationId xmlns:a16="http://schemas.microsoft.com/office/drawing/2014/main" id="{1BE4FAED-F12E-FBB9-7943-374D9FCC9319}"/>
              </a:ext>
            </a:extLst>
          </p:cNvPr>
          <p:cNvSpPr/>
          <p:nvPr/>
        </p:nvSpPr>
        <p:spPr>
          <a:xfrm>
            <a:off x="5114048" y="1876941"/>
            <a:ext cx="914400" cy="36576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A8B7C4A-2F38-9C2A-FA39-3EC26D430CEC}"/>
                  </a:ext>
                </a:extLst>
              </p:cNvPr>
              <p:cNvSpPr txBox="1"/>
              <p:nvPr/>
            </p:nvSpPr>
            <p:spPr>
              <a:xfrm>
                <a:off x="141769" y="2965145"/>
                <a:ext cx="4798048" cy="2623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" altLang="zh-CN"/>
                  <a:t>Each prompt carries its own notion of </a:t>
                </a:r>
                <a:r>
                  <a:rPr lang="en" altLang="zh-CN" b="1"/>
                  <a:t>difficulty, quality, or latent reward level</a:t>
                </a:r>
                <a:r>
                  <a:rPr lang="en" altLang="zh-CN"/>
                  <a:t>.</a:t>
                </a:r>
              </a:p>
              <a:p>
                <a:r>
                  <a:rPr lang="en" altLang="zh-CN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" altLang="zh-CN"/>
                  <a:t>The offline value signal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zh-CN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" altLang="zh-CN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" altLang="zh-CN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" altLang="zh-CN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" altLang="zh-CN"/>
                  <a:t> provides a compact summary of this prompt-level structure.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" altLang="zh-CN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" altLang="zh-CN"/>
                  <a:t>We use this offline value signal to define similarity between prompts</a:t>
                </a:r>
                <a:r>
                  <a:rPr lang="zh-CN" altLang="en-US"/>
                  <a:t>。</a:t>
                </a:r>
                <a:endParaRPr lang="en" altLang="zh-CN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A8B7C4A-2F38-9C2A-FA39-3EC26D430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69" y="2965145"/>
                <a:ext cx="4798048" cy="2623603"/>
              </a:xfrm>
              <a:prstGeom prst="rect">
                <a:avLst/>
              </a:prstGeom>
              <a:blipFill>
                <a:blip r:embed="rId5"/>
                <a:stretch>
                  <a:fillRect l="-762" t="-1160" b="-2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7882248-B48F-F0DD-4EA5-083E59E48F91}"/>
                  </a:ext>
                </a:extLst>
              </p:cNvPr>
              <p:cNvSpPr txBox="1"/>
              <p:nvPr/>
            </p:nvSpPr>
            <p:spPr>
              <a:xfrm>
                <a:off x="6196336" y="2965145"/>
                <a:ext cx="4798048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b="1"/>
                  <a:t>Difficulty rescaling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" altLang="zh-CN" b="1"/>
                  <a:t>Remove </a:t>
                </a:r>
                <a:r>
                  <a:rPr lang="en" altLang="zh-CN"/>
                  <a:t>the </a:t>
                </a:r>
                <a:r>
                  <a:rPr lang="en" altLang="zh-CN" b="1"/>
                  <a:t>difficulty</a:t>
                </a:r>
                <a:r>
                  <a:rPr lang="en" altLang="zh-CN"/>
                  <a:t> </a:t>
                </a:r>
                <a:r>
                  <a:rPr lang="en" altLang="zh-CN" b="1"/>
                  <a:t>scale </a:t>
                </a:r>
                <a:r>
                  <a:rPr lang="en" altLang="zh-CN"/>
                  <a:t>from the reward behavior observed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" altLang="zh-CN" i="1" dirty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" altLang="zh-CN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" altLang="zh-CN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" altLang="zh-CN" b="1"/>
                  <a:t>Rescale</a:t>
                </a:r>
                <a:r>
                  <a:rPr lang="en" altLang="zh-CN"/>
                  <a:t> it to the difficulty level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altLang="zh-CN"/>
                  <a:t>.</a:t>
                </a:r>
              </a:p>
              <a:p>
                <a:endParaRPr lang="en" altLang="zh-CN"/>
              </a:p>
              <a:p>
                <a:r>
                  <a:rPr lang="en" altLang="zh-CN" b="1"/>
                  <a:t>Confidence weight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" altLang="zh-CN"/>
                  <a:t>Larger offline value signal has higher leverage</a:t>
                </a:r>
              </a:p>
              <a:p>
                <a:r>
                  <a:rPr lang="en" altLang="zh-CN"/>
                  <a:t> 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7882248-B48F-F0DD-4EA5-083E59E48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336" y="2965145"/>
                <a:ext cx="4798048" cy="2585323"/>
              </a:xfrm>
              <a:prstGeom prst="rect">
                <a:avLst/>
              </a:prstGeom>
              <a:blipFill>
                <a:blip r:embed="rId6"/>
                <a:stretch>
                  <a:fillRect l="-1015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C79F4915-DBBD-7AE4-8CBB-B5B608F0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2D46C840-14AE-F034-F1C3-55D01AB49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A9325FBC-1CC2-B53E-3C59-B9FC2F0F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19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512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451111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61B21"/>
                </a:solidFill>
                <a:latin typeface="Aptos Display"/>
              </a:rPr>
              <a:t>Method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4880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F7782"/>
                </a:solidFill>
                <a:latin typeface="Aptos"/>
              </a:rPr>
              <a:t>7</a:t>
            </a:r>
          </a:p>
        </p:txBody>
      </p:sp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3607B085-BFB7-F688-4E98-E88EEA39A6C2}"/>
              </a:ext>
            </a:extLst>
          </p:cNvPr>
          <p:cNvSpPr/>
          <p:nvPr/>
        </p:nvSpPr>
        <p:spPr>
          <a:xfrm>
            <a:off x="449786" y="173285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9E9CAD23-E36C-9C4D-2A01-2BFDC8DAABE9}"/>
              </a:ext>
            </a:extLst>
          </p:cNvPr>
          <p:cNvSpPr txBox="1"/>
          <p:nvPr/>
        </p:nvSpPr>
        <p:spPr>
          <a:xfrm>
            <a:off x="376634" y="184769"/>
            <a:ext cx="11064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METHOD DETAIL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DCA4122-3737-C2F0-AF70-45685945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44AEF84C-DA36-4EC9-F1C0-9DE7D521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5E1C81FA-2066-5E29-D330-D3D65B4C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20</a:t>
            </a:fld>
            <a:endParaRPr lang="en-US">
              <a:solidFill>
                <a:srgbClr val="8F8F8F"/>
              </a:solidFill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5DB0393B-08D0-C744-367E-593FBF99ED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1040861"/>
            <a:ext cx="10694328" cy="53206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cinematic_abstract_digital_art_data_visu_batch_3.png"/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5486400" y="0"/>
            <a:ext cx="672084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" y="1069740"/>
            <a:ext cx="10561320" cy="1152145"/>
          </a:xfrm>
          <a:prstGeom prst="roundRect">
            <a:avLst/>
          </a:prstGeom>
          <a:solidFill>
            <a:srgbClr val="2B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74976" y="1184147"/>
            <a:ext cx="6644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>
                <a:solidFill>
                  <a:srgbClr val="FFFFFF"/>
                </a:solidFill>
                <a:latin typeface="Aptos"/>
              </a:rPr>
              <a:t>Experiments</a:t>
            </a:r>
            <a:endParaRPr sz="5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1298" y="2445239"/>
            <a:ext cx="547878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BAS helps for two</a:t>
            </a:r>
            <a:r>
              <a:rPr lang="en-US" sz="3600" b="1">
                <a:solidFill>
                  <a:srgbClr val="FFFFFF"/>
                </a:solidFill>
                <a:latin typeface="Aptos Display"/>
              </a:rPr>
              <a:t> </a:t>
            </a:r>
            <a:r>
              <a:rPr sz="3600" b="1">
                <a:solidFill>
                  <a:srgbClr val="FFFFFF"/>
                </a:solidFill>
                <a:latin typeface="Aptos Display"/>
              </a:rPr>
              <a:t>complementary reasons: </a:t>
            </a:r>
            <a:endParaRPr lang="en-US" sz="3600" b="1">
              <a:solidFill>
                <a:srgbClr val="FFFFFF"/>
              </a:solidFill>
              <a:latin typeface="Aptos Display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sz="1600">
                <a:solidFill>
                  <a:srgbClr val="DADFE7"/>
                </a:solidFill>
                <a:latin typeface="Aptos"/>
              </a:rPr>
              <a:t>lower variance </a:t>
            </a:r>
            <a:endParaRPr lang="en-US" sz="1600">
              <a:solidFill>
                <a:srgbClr val="DADFE7"/>
              </a:solidFill>
              <a:latin typeface="Aptos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sz="1600">
                <a:solidFill>
                  <a:srgbClr val="DADFE7"/>
                </a:solidFill>
                <a:latin typeface="Aptos"/>
              </a:rPr>
              <a:t>better preservation of learning signal.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72F60A-0EFB-12A2-36B0-7EA1A7E84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C63F7-8A8A-F573-EB84-7045F3C4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46F48EF-1A20-8255-998D-7EA28C73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654E6-6420-4148-56F1-CD466CA2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0DF5D51-1414-8D45-63C0-047566EB527D}"/>
              </a:ext>
            </a:extLst>
          </p:cNvPr>
          <p:cNvSpPr/>
          <p:nvPr/>
        </p:nvSpPr>
        <p:spPr>
          <a:xfrm>
            <a:off x="415205" y="16866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898FB-9F0F-8D01-1C8C-EF2B2FD99973}"/>
              </a:ext>
            </a:extLst>
          </p:cNvPr>
          <p:cNvSpPr txBox="1"/>
          <p:nvPr/>
        </p:nvSpPr>
        <p:spPr>
          <a:xfrm>
            <a:off x="515789" y="214388"/>
            <a:ext cx="777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73103-59A3-6C24-B397-DC968B237E8A}"/>
              </a:ext>
            </a:extLst>
          </p:cNvPr>
          <p:cNvSpPr txBox="1"/>
          <p:nvPr/>
        </p:nvSpPr>
        <p:spPr>
          <a:xfrm>
            <a:off x="415205" y="506486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>
                <a:latin typeface="Aptos"/>
              </a:rPr>
              <a:t>Single-rollout effective </a:t>
            </a:r>
            <a:r>
              <a:rPr lang="en-US" altLang="zh-CN" sz="2800" b="1">
                <a:latin typeface="Aptos"/>
              </a:rPr>
              <a:t>(even using half time)</a:t>
            </a:r>
            <a:endParaRPr lang="en" altLang="zh-CN" sz="2800" b="1"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84920-6D70-CF2F-E0B1-3EB65CE4A2CA}"/>
              </a:ext>
            </a:extLst>
          </p:cNvPr>
          <p:cNvSpPr/>
          <p:nvPr/>
        </p:nvSpPr>
        <p:spPr>
          <a:xfrm>
            <a:off x="415205" y="963686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CC843515-C273-9668-161F-FFBB3B7481C6}"/>
              </a:ext>
            </a:extLst>
          </p:cNvPr>
          <p:cNvSpPr/>
          <p:nvPr/>
        </p:nvSpPr>
        <p:spPr>
          <a:xfrm>
            <a:off x="415205" y="16866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53D6FC5E-1AAC-3D42-EDDA-33F94248BEAC}"/>
              </a:ext>
            </a:extLst>
          </p:cNvPr>
          <p:cNvSpPr txBox="1"/>
          <p:nvPr/>
        </p:nvSpPr>
        <p:spPr>
          <a:xfrm>
            <a:off x="415205" y="175580"/>
            <a:ext cx="960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>
                <a:solidFill>
                  <a:srgbClr val="CC2529"/>
                </a:solidFill>
                <a:latin typeface="Aptos"/>
              </a:rPr>
              <a:t>Experiments</a:t>
            </a:r>
            <a:endParaRPr sz="900" b="1">
              <a:solidFill>
                <a:srgbClr val="CC2529"/>
              </a:solidFill>
              <a:latin typeface="Apto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215D83-C478-E46C-EEEE-DA950A23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3" y="1029706"/>
            <a:ext cx="10024533" cy="5634068"/>
          </a:xfrm>
          <a:prstGeom prst="rect">
            <a:avLst/>
          </a:prstGeom>
        </p:spPr>
      </p:pic>
      <p:sp>
        <p:nvSpPr>
          <p:cNvPr id="15" name="日期占位符 14">
            <a:extLst>
              <a:ext uri="{FF2B5EF4-FFF2-40B4-BE49-F238E27FC236}">
                <a16:creationId xmlns:a16="http://schemas.microsoft.com/office/drawing/2014/main" id="{C0DA68B0-120F-1D2B-24D2-8A693AEB4C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299" y="6549510"/>
            <a:ext cx="2133600" cy="365125"/>
          </a:xfrm>
        </p:spPr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5EBFD973-1AC2-3160-4234-E942B6EC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199" y="6533515"/>
            <a:ext cx="2895600" cy="365125"/>
          </a:xfrm>
        </p:spPr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AA864729-2B4B-9B84-A378-6CECA039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22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311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2AD31-6D00-D556-98E9-B0A698C90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6C52B8C-2A5A-4BBA-0C91-006D431427FD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A1AE1-D656-1132-95C5-A279C4F783A8}"/>
              </a:ext>
            </a:extLst>
          </p:cNvPr>
          <p:cNvSpPr txBox="1"/>
          <p:nvPr/>
        </p:nvSpPr>
        <p:spPr>
          <a:xfrm>
            <a:off x="649224" y="429768"/>
            <a:ext cx="777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DCA8-E194-9315-19A7-4232CB42E8FE}"/>
              </a:ext>
            </a:extLst>
          </p:cNvPr>
          <p:cNvSpPr txBox="1"/>
          <p:nvPr/>
        </p:nvSpPr>
        <p:spPr>
          <a:xfrm>
            <a:off x="548640" y="841248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>
                <a:latin typeface="Aptos"/>
              </a:rPr>
              <a:t>BASIS is robust and informative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553B09-8A92-A15C-ADD8-44A39D644664}"/>
              </a:ext>
            </a:extLst>
          </p:cNvPr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A46DA76-47F6-847B-9D27-A58CE7B0A6FE}"/>
              </a:ext>
            </a:extLst>
          </p:cNvPr>
          <p:cNvSpPr txBox="1"/>
          <p:nvPr/>
        </p:nvSpPr>
        <p:spPr>
          <a:xfrm>
            <a:off x="548640" y="1453896"/>
            <a:ext cx="11385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>
                <a:solidFill>
                  <a:srgbClr val="39414D"/>
                </a:solidFill>
                <a:latin typeface="Aptos"/>
              </a:rPr>
              <a:t>GRPO have high variance when the question is medium and gradient collapse when question is easy or </a:t>
            </a:r>
            <a:r>
              <a:rPr lang="zh-CN" altLang="zh-CN">
                <a:solidFill>
                  <a:srgbClr val="39414D"/>
                </a:solidFill>
                <a:latin typeface="Aptos"/>
              </a:rPr>
              <a:t>difficult </a:t>
            </a:r>
            <a:r>
              <a:rPr lang="en" altLang="zh-CN">
                <a:solidFill>
                  <a:srgbClr val="39414D"/>
                </a:solidFill>
                <a:latin typeface="Aptos"/>
              </a:rPr>
              <a:t>  </a:t>
            </a:r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FBE0D4EF-24ED-4513-52F8-0FCDA2D0FBAA}"/>
              </a:ext>
            </a:extLst>
          </p:cNvPr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14A73CBF-07EA-3622-D595-765E30898253}"/>
              </a:ext>
            </a:extLst>
          </p:cNvPr>
          <p:cNvSpPr txBox="1"/>
          <p:nvPr/>
        </p:nvSpPr>
        <p:spPr>
          <a:xfrm>
            <a:off x="548640" y="390960"/>
            <a:ext cx="960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>
                <a:solidFill>
                  <a:srgbClr val="CC2529"/>
                </a:solidFill>
                <a:latin typeface="Aptos"/>
              </a:rPr>
              <a:t>Experiments</a:t>
            </a:r>
            <a:endParaRPr sz="900" b="1">
              <a:solidFill>
                <a:srgbClr val="CC2529"/>
              </a:solidFill>
              <a:latin typeface="Apto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D111B6B-5173-6A5D-8ECE-A810B83917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1" t="16175" r="3365" b="3208"/>
          <a:stretch>
            <a:fillRect/>
          </a:stretch>
        </p:blipFill>
        <p:spPr>
          <a:xfrm>
            <a:off x="1065329" y="2068728"/>
            <a:ext cx="9939420" cy="382565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14C9A1D-7889-8580-1F08-D56C70D32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97" y="5976678"/>
            <a:ext cx="11798085" cy="426231"/>
          </a:xfrm>
          <a:prstGeom prst="rect">
            <a:avLst/>
          </a:prstGeom>
        </p:spPr>
      </p:pic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0E72CE50-7C01-5FC3-2C91-48D537792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D219C7BF-57EF-5439-A97D-34572216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7D678E54-2755-FE66-B531-A1072906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23</a:t>
            </a:fld>
            <a:endParaRPr lang="en-US">
              <a:solidFill>
                <a:srgbClr val="8F8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023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90960"/>
            <a:ext cx="960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>
                <a:solidFill>
                  <a:srgbClr val="CC2529"/>
                </a:solidFill>
                <a:latin typeface="Aptos"/>
              </a:rPr>
              <a:t>Experiments</a:t>
            </a:r>
            <a:endParaRPr sz="900" b="1">
              <a:solidFill>
                <a:srgbClr val="CC252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>
                <a:latin typeface="Aptos"/>
              </a:rPr>
              <a:t>BASIS is sample efficient</a:t>
            </a:r>
            <a:r>
              <a:rPr lang="zh-CN" altLang="en-US" sz="2800" b="1">
                <a:latin typeface="Aptos"/>
              </a:rPr>
              <a:t> </a:t>
            </a:r>
            <a:r>
              <a:rPr lang="en" altLang="zh-CN" sz="2800" b="1">
                <a:latin typeface="Aptos"/>
              </a:rPr>
              <a:t>and</a:t>
            </a:r>
            <a:r>
              <a:rPr lang="zh-CN" altLang="en-US" sz="2800" b="1">
                <a:latin typeface="Aptos"/>
              </a:rPr>
              <a:t> </a:t>
            </a:r>
            <a:r>
              <a:rPr lang="en-US" altLang="zh-CN" sz="2800" b="1">
                <a:latin typeface="Aptos"/>
              </a:rPr>
              <a:t>robust</a:t>
            </a:r>
            <a:endParaRPr lang="en" altLang="zh-CN" sz="2800" b="1"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D4A685B0-A0F6-8C43-D95F-BCBDAC9146BE}"/>
              </a:ext>
            </a:extLst>
          </p:cNvPr>
          <p:cNvSpPr txBox="1"/>
          <p:nvPr/>
        </p:nvSpPr>
        <p:spPr>
          <a:xfrm>
            <a:off x="566928" y="1402133"/>
            <a:ext cx="12027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39414D"/>
                </a:solidFill>
                <a:latin typeface="Aptos"/>
              </a:rPr>
              <a:t>BASIS has smaller MSE with </a:t>
            </a:r>
            <a:r>
              <a:rPr lang="en-US" sz="2000">
                <a:solidFill>
                  <a:srgbClr val="39414D"/>
                </a:solidFill>
                <a:latin typeface="Aptos"/>
              </a:rPr>
              <a:t>single-rollout and robustness to within-batch reward heterogeneity</a:t>
            </a:r>
            <a:endParaRPr sz="2000" b="0">
              <a:solidFill>
                <a:srgbClr val="39414D"/>
              </a:solidFill>
              <a:latin typeface="Apto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DF9172-410C-5FAC-C014-370F9117AC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45" t="19055" r="49485" b="8152"/>
          <a:stretch>
            <a:fillRect/>
          </a:stretch>
        </p:blipFill>
        <p:spPr>
          <a:xfrm>
            <a:off x="972577" y="1915141"/>
            <a:ext cx="10246846" cy="374356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916B134-AEFD-C62D-141A-BE240E6ED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97" y="5803636"/>
            <a:ext cx="11798085" cy="426231"/>
          </a:xfrm>
          <a:prstGeom prst="rect">
            <a:avLst/>
          </a:prstGeom>
        </p:spPr>
      </p:pic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BDF79C3B-CF25-8917-871D-67B5BA53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426412DE-A55B-B019-F2A2-1883D8D9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3E02CD71-5F58-5F01-D9E9-79586629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24</a:t>
            </a:fld>
            <a:endParaRPr lang="en-US"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84048"/>
            <a:ext cx="960120" cy="228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5855"/>
            <a:ext cx="777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529"/>
                </a:solidFill>
                <a:latin typeface="Aptos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80467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500" b="1">
                <a:solidFill>
                  <a:srgbClr val="161B21"/>
                </a:solidFill>
                <a:latin typeface="Aptos Display"/>
              </a:rPr>
              <a:t>Summary</a:t>
            </a:r>
            <a:endParaRPr sz="2500" b="1">
              <a:solidFill>
                <a:srgbClr val="161B21"/>
              </a:solidFill>
              <a:latin typeface="Aptos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972800" cy="13716"/>
          </a:xfrm>
          <a:prstGeom prst="rect">
            <a:avLst/>
          </a:prstGeom>
          <a:solidFill>
            <a:srgbClr val="E3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782"/>
                </a:solidFill>
                <a:latin typeface="Aptos"/>
              </a:rPr>
              <a:t>Batchwise Advantage Shaping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F7782"/>
                </a:solidFill>
                <a:latin typeface="Aptos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423485"/>
              </p:ext>
            </p:extLst>
          </p:nvPr>
        </p:nvGraphicFramePr>
        <p:xfrm>
          <a:off x="566928" y="1554480"/>
          <a:ext cx="10954511" cy="265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7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45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61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Value model</a:t>
                      </a:r>
                    </a:p>
                  </a:txBody>
                  <a:tcPr>
                    <a:solidFill>
                      <a:srgbClr val="161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Needs G&gt;1</a:t>
                      </a:r>
                    </a:p>
                  </a:txBody>
                  <a:tcPr>
                    <a:solidFill>
                      <a:srgbClr val="161B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Cross-prompt info</a:t>
                      </a:r>
                    </a:p>
                  </a:txBody>
                  <a:tcPr>
                    <a:solidFill>
                      <a:srgbClr val="161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5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1B21"/>
                          </a:solidFill>
                        </a:rPr>
                        <a:t>PPO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20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5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1B21"/>
                          </a:solidFill>
                        </a:rPr>
                        <a:t>GRPO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20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Usually yes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20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55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61B21"/>
                          </a:solidFill>
                        </a:rPr>
                        <a:t>BA</a:t>
                      </a:r>
                      <a:r>
                        <a:rPr lang="en-US" altLang="zh-CN" sz="2000" b="1" dirty="0">
                          <a:solidFill>
                            <a:srgbClr val="161B21"/>
                          </a:solidFill>
                        </a:rPr>
                        <a:t>SIS</a:t>
                      </a:r>
                      <a:endParaRPr sz="2000" b="1" dirty="0">
                        <a:solidFill>
                          <a:srgbClr val="161B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333461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4443189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2529"/>
                </a:solidFill>
                <a:latin typeface="Aptos"/>
              </a:rPr>
              <a:t>Single-sample regime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4726653"/>
            <a:ext cx="3154680" cy="805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39414D"/>
                </a:solidFill>
                <a:latin typeface="Aptos"/>
              </a:defRPr>
            </a:pPr>
            <a:r>
              <a:rPr dirty="0"/>
              <a:t>When G = 1, vanilla GRPO becomes fragile, but BA</a:t>
            </a:r>
            <a:r>
              <a:rPr lang="en-US" altLang="zh-CN" dirty="0"/>
              <a:t>SIS</a:t>
            </a:r>
            <a:r>
              <a:rPr dirty="0"/>
              <a:t> can still borrow along the prompt dimension.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4333461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9976" y="4443189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5AA5"/>
                </a:solidFill>
                <a:latin typeface="Aptos"/>
              </a:rPr>
              <a:t>Systems appeal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4726653"/>
            <a:ext cx="31546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39414D"/>
                </a:solidFill>
                <a:latin typeface="Aptos"/>
              </a:defRPr>
            </a:pPr>
            <a:r>
              <a:t>No extra value model to train, store, or synchronize.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39414D"/>
                </a:solidFill>
                <a:latin typeface="Aptos"/>
              </a:defRPr>
            </a:pPr>
            <a:r>
              <a:t>Potentially lower inference cost than large-group GRPO.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333461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47304" y="4443189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15199"/>
                </a:solidFill>
                <a:latin typeface="Aptos"/>
              </a:rPr>
              <a:t>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4726653"/>
            <a:ext cx="31546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39414D"/>
                </a:solidFill>
                <a:latin typeface="Aptos"/>
              </a:defRPr>
            </a:pPr>
            <a:r>
              <a:t>RLVR with verifiable rewards.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39414D"/>
                </a:solidFill>
                <a:latin typeface="Aptos"/>
              </a:defRPr>
            </a:pPr>
            <a:r>
              <a:t>Reasoning, mathematics, code, and other structured tasks.</a:t>
            </a:r>
          </a:p>
        </p:txBody>
      </p:sp>
      <p:sp>
        <p:nvSpPr>
          <p:cNvPr id="21" name="日期占位符 20">
            <a:extLst>
              <a:ext uri="{FF2B5EF4-FFF2-40B4-BE49-F238E27FC236}">
                <a16:creationId xmlns:a16="http://schemas.microsoft.com/office/drawing/2014/main" id="{921D5192-AE1A-5563-3732-3EA011E0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狗熊会</a:t>
            </a:r>
            <a:endParaRPr lang="en-US"/>
          </a:p>
        </p:txBody>
      </p:sp>
      <p:sp>
        <p:nvSpPr>
          <p:cNvPr id="22" name="页脚占位符 21">
            <a:extLst>
              <a:ext uri="{FF2B5EF4-FFF2-40B4-BE49-F238E27FC236}">
                <a16:creationId xmlns:a16="http://schemas.microsoft.com/office/drawing/2014/main" id="{EB676E09-9638-21DA-97F9-CAC8B9382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BASIS</a:t>
            </a:r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53046F75-65C3-A19D-5AD9-8227253A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25</a:t>
            </a:fld>
            <a:endParaRPr lang="en-US"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67eafd-e777-42a5-91bb-9440fd43b893}" enabled="0" method="" siteId="{5567eafd-e777-42a5-91bb-9440fd43b89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3885</TotalTime>
  <Words>5275</Words>
  <Application>Microsoft Macintosh PowerPoint</Application>
  <PresentationFormat>宽屏</PresentationFormat>
  <Paragraphs>606</Paragraphs>
  <Slides>25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等线</vt:lpstr>
      <vt:lpstr>Aptos</vt:lpstr>
      <vt:lpstr>Aptos Display</vt:lpstr>
      <vt:lpstr>Aptos Narrow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Ye1,K (pgr)</cp:lastModifiedBy>
  <cp:revision>1</cp:revision>
  <dcterms:created xsi:type="dcterms:W3CDTF">2013-01-27T09:14:16Z</dcterms:created>
  <dcterms:modified xsi:type="dcterms:W3CDTF">2026-08-22T11:04:06Z</dcterms:modified>
  <cp:category/>
</cp:coreProperties>
</file>